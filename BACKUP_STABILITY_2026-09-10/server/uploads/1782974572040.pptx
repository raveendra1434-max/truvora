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7315200" cy="4572000"/>
          </a:xfrm>
          <a:prstGeom prst="rect">
            <a:avLst/>
          </a:prstGeom>
          <a:noFill/>
          <a:ln/>
        </p:spPr>
        <p:txBody>
          <a:bodyPr wrap="square" rtlCol="0" anchor="ctr"/>
          <a:lstStyle/>
          <a:p>
            <a:pPr indent="0" marL="0">
              <a:buNone/>
            </a:pPr>
            <a:r>
              <a:rPr lang="en-US" sz="2200" dirty="0">
                <a:solidFill>
                  <a:srgbClr val="000000"/>
                </a:solidFill>
              </a:rPr>
              <a:t>Title: Professional Document Conversion to PowerPoint Presentation</a:t>
            </a:r>
            <a:endParaRPr lang="en-US" sz="2200" dirty="0"/>
          </a:p>
          <a:p>
            <a:pPr indent="0" marL="0">
              <a:buNone/>
            </a:pPr>
            <a:endParaRPr lang="en-US" sz="2200" dirty="0"/>
          </a:p>
          <a:p>
            <a:pPr indent="0" marL="0">
              <a:buNone/>
            </a:pPr>
            <a:r>
              <a:rPr lang="en-US" sz="2200" dirty="0">
                <a:solidFill>
                  <a:srgbClr val="000000"/>
                </a:solidFill>
              </a:rPr>
              <a:t>Table of Contents  </a:t>
            </a:r>
            <a:endParaRPr lang="en-US" sz="2200" dirty="0"/>
          </a:p>
          <a:p>
            <a:pPr indent="0" marL="0">
              <a:buNone/>
            </a:pPr>
            <a:r>
              <a:rPr lang="en-US" sz="2200" dirty="0">
                <a:solidFill>
                  <a:srgbClr val="000000"/>
                </a:solidFill>
              </a:rPr>
              <a:t>1. Introduction  </a:t>
            </a:r>
            <a:endParaRPr lang="en-US" sz="2200" dirty="0"/>
          </a:p>
          <a:p>
            <a:pPr indent="0" marL="0">
              <a:buNone/>
            </a:pPr>
            <a:r>
              <a:rPr lang="en-US" sz="2200" dirty="0">
                <a:solidFill>
                  <a:srgbClr val="000000"/>
                </a:solidFill>
              </a:rPr>
              <a:t>2. Document Structure and Content Analysis  </a:t>
            </a:r>
            <a:endParaRPr lang="en-US" sz="2200" dirty="0"/>
          </a:p>
          <a:p>
            <a:pPr indent="0" marL="0">
              <a:buNone/>
            </a:pPr>
            <a:r>
              <a:rPr lang="en-US" sz="2200" dirty="0">
                <a:solidFill>
                  <a:srgbClr val="000000"/>
                </a:solidFill>
              </a:rPr>
              <a:t>3. Slide Design and Layout Considerations  </a:t>
            </a:r>
            <a:endParaRPr lang="en-US" sz="2200" dirty="0"/>
          </a:p>
          <a:p>
            <a:pPr indent="0" marL="0">
              <a:buNone/>
            </a:pPr>
            <a:r>
              <a:rPr lang="en-US" sz="2200" dirty="0">
                <a:solidFill>
                  <a:srgbClr val="000000"/>
                </a:solidFill>
              </a:rPr>
              <a:t>4. Content Segmentation for Slides  </a:t>
            </a:r>
            <a:endParaRPr lang="en-US" sz="2200" dirty="0"/>
          </a:p>
          <a:p>
            <a:pPr indent="0" marL="0">
              <a:buNone/>
            </a:pPr>
            <a:r>
              <a:rPr lang="en-US" sz="2200" dirty="0">
                <a:solidFill>
                  <a:srgbClr val="000000"/>
                </a:solidFill>
              </a:rPr>
              <a:t>5. Visual Elements and Enhancements  </a:t>
            </a:r>
            <a:endParaRPr lang="en-US" sz="2200" dirty="0"/>
          </a:p>
          <a:p>
            <a:pPr indent="0" marL="0">
              <a:buNone/>
            </a:pPr>
            <a:r>
              <a:rPr lang="en-US" sz="2200" dirty="0">
                <a:solidFill>
                  <a:srgbClr val="000000"/>
                </a:solidFill>
              </a:rPr>
              <a:t>6. Examples of Document-to-Presentation Conversion  </a:t>
            </a:r>
            <a:endParaRPr lang="en-US" sz="2200" dirty="0"/>
          </a:p>
          <a:p>
            <a:pPr indent="0" marL="0">
              <a:buNone/>
            </a:pPr>
            <a:r>
              <a:rPr lang="en-US" sz="2200" dirty="0">
                <a:solidFill>
                  <a:srgbClr val="000000"/>
                </a:solidFill>
              </a:rPr>
              <a:t>7. Advantages of Using PowerPoint for Presentations  </a:t>
            </a:r>
            <a:endParaRPr lang="en-US" sz="2200" dirty="0"/>
          </a:p>
          <a:p>
            <a:pPr indent="0" marL="0">
              <a:buNone/>
            </a:pPr>
            <a:r>
              <a:rPr lang="en-US" sz="2200" dirty="0">
                <a:solidFill>
                  <a:srgbClr val="000000"/>
                </a:solidFill>
              </a:rPr>
              <a:t>8. Disadvantages and Limitations  </a:t>
            </a:r>
            <a:endParaRPr lang="en-US" sz="2200" dirty="0"/>
          </a:p>
          <a:p>
            <a:pPr indent="0" marL="0">
              <a:buNone/>
            </a:pPr>
            <a:r>
              <a:rPr lang="en-US" sz="2200" dirty="0">
                <a:solidFill>
                  <a:srgbClr val="000000"/>
                </a:solidFill>
              </a:rPr>
              <a:t>9. Applications of Document-Based Presentations  </a:t>
            </a:r>
            <a:endParaRPr lang="en-US" sz="2200" dirty="0"/>
          </a:p>
          <a:p>
            <a:pPr indent="0" marL="0">
              <a:buNone/>
            </a:pPr>
            <a:r>
              <a:rPr lang="en-US" sz="2200" dirty="0">
                <a:solidFill>
                  <a:srgbClr val="000000"/>
                </a:solidFill>
              </a:rPr>
              <a:t>10. Future Scope of Document Conversion Technologies  </a:t>
            </a:r>
            <a:endParaRPr lang="en-US" sz="2200" dirty="0"/>
          </a:p>
          <a:p>
            <a:pPr indent="0" marL="0">
              <a:buNone/>
            </a:pPr>
            <a:r>
              <a:rPr lang="en-US" sz="2200" dirty="0">
                <a:solidFill>
                  <a:srgbClr val="000000"/>
                </a:solidFill>
              </a:rPr>
              <a:t>11. Conclusion  </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1. Introduction  </a:t>
            </a:r>
            <a:endParaRPr lang="en-US" sz="2200" dirty="0"/>
          </a:p>
          <a:p>
            <a:pPr indent="0" marL="0">
              <a:buNone/>
            </a:pPr>
            <a:r>
              <a:rPr lang="en-US" sz="2200" dirty="0">
                <a:solidFill>
                  <a:srgbClr val="000000"/>
                </a:solidFill>
              </a:rPr>
              <a:t>In professional environments, converting comprehensive documents into concise PowerPoint presentations is a common task. Presentations facilitate communication, engagement, and quick understanding of complex information. This document elaborates on the principles, processes, and considerations involved in transforming detailed written content into effective PowerPoint slides, ensuring clarity, engagement, and impact.</a:t>
            </a:r>
            <a:endParaRPr lang="en-US" sz="2200" dirty="0"/>
          </a:p>
          <a:p>
            <a:pPr indent="0" marL="0">
              <a:buNone/>
            </a:pPr>
            <a:endParaRPr lang="en-US" sz="2200" dirty="0"/>
          </a:p>
          <a:p>
            <a:pPr indent="0" marL="0">
              <a:buNone/>
            </a:pPr>
            <a:r>
              <a:rPr lang="en-US" sz="2200" dirty="0">
                <a:solidFill>
                  <a:srgbClr val="000000"/>
                </a:solidFill>
              </a:rPr>
              <a:t>2. Document Structure and Content Analysis  </a:t>
            </a:r>
            <a:endParaRPr lang="en-US" sz="2200" dirty="0"/>
          </a:p>
          <a:p>
            <a:pPr indent="0" marL="0">
              <a:buNone/>
            </a:pPr>
            <a:r>
              <a:rPr lang="en-US" sz="2200" dirty="0">
                <a:solidFill>
                  <a:srgbClr val="000000"/>
                </a:solidFill>
              </a:rPr>
              <a:t>Before initiating conversion, it is essential to thoroughly analyze the document’s structure: identifying headings, subheadings, key points, and supporting detail. Outlining the main ideas provides a framework to determine the number of slides, their sequence, and emphasis. Prioritizing information ensures that the core message is retained while avoiding overwhelming the audience with excessive text.</a:t>
            </a:r>
            <a:endParaRPr lang="en-US" sz="2200" dirty="0"/>
          </a:p>
          <a:p>
            <a:pPr indent="0" marL="0">
              <a:buNone/>
            </a:pPr>
            <a:endParaRPr lang="en-US" sz="2200" dirty="0"/>
          </a:p>
          <a:p>
            <a:pPr indent="0" marL="0">
              <a:buNone/>
            </a:pPr>
            <a:r>
              <a:rPr lang="en-US" sz="2200" dirty="0">
                <a:solidFill>
                  <a:srgbClr val="000000"/>
                </a:solidFill>
              </a:rPr>
              <a:t>3. Slide Design and Layout Considerations  </a:t>
            </a:r>
            <a:endParaRPr lang="en-US" sz="2200" dirty="0"/>
          </a:p>
          <a:p>
            <a:pPr indent="0" marL="0">
              <a:buNone/>
            </a:pPr>
            <a:r>
              <a:rPr lang="en-US" sz="2200" dirty="0">
                <a:solidFill>
                  <a:srgbClr val="000000"/>
                </a:solidFill>
              </a:rPr>
              <a:t>Effective slide design improves comprehension and audience retention. Key principles include:  </a:t>
            </a:r>
            <a:endParaRPr lang="en-US" sz="2200" dirty="0"/>
          </a:p>
          <a:p>
            <a:pPr indent="0" marL="0">
              <a:buNone/>
            </a:pPr>
            <a:r>
              <a:rPr lang="en-US" sz="2200" dirty="0">
                <a:solidFill>
                  <a:srgbClr val="000000"/>
                </a:solidFill>
              </a:rPr>
              <a:t>- Use of concise headings that reflect slide content.  </a:t>
            </a:r>
            <a:endParaRPr lang="en-US" sz="2200" dirty="0"/>
          </a:p>
          <a:p>
            <a:pPr indent="0" marL="0">
              <a:buNone/>
            </a:pPr>
            <a:r>
              <a:rPr lang="en-US" sz="2200" dirty="0">
                <a:solidFill>
                  <a:srgbClr val="000000"/>
                </a:solidFill>
              </a:rPr>
              <a:t>- Limiting bullet points to 3-5 per slide to maintain readability.  </a:t>
            </a:r>
            <a:endParaRPr lang="en-US" sz="2200" dirty="0"/>
          </a:p>
          <a:p>
            <a:pPr indent="0" marL="0">
              <a:buNone/>
            </a:pPr>
            <a:r>
              <a:rPr lang="en-US" sz="2200" dirty="0">
                <a:solidFill>
                  <a:srgbClr val="000000"/>
                </a:solidFill>
              </a:rPr>
              <a:t>- Incorporating white space for visual comfort.  </a:t>
            </a:r>
            <a:endParaRPr lang="en-US" sz="2200" dirty="0"/>
          </a:p>
          <a:p>
            <a:pPr indent="0" marL="0">
              <a:buNone/>
            </a:pPr>
            <a:r>
              <a:rPr lang="en-US" sz="2200" dirty="0">
                <a:solidFill>
                  <a:srgbClr val="000000"/>
                </a:solidFill>
              </a:rPr>
              <a:t>- Consistent fonts and colors aligned with organizational branding.  </a:t>
            </a:r>
            <a:endParaRPr lang="en-US" sz="2200" dirty="0"/>
          </a:p>
          <a:p>
            <a:pPr indent="0" marL="0">
              <a:buNone/>
            </a:pPr>
            <a:r>
              <a:rPr lang="en-US" sz="2200" dirty="0">
                <a:solidFill>
                  <a:srgbClr val="000000"/>
                </a:solidFill>
              </a:rPr>
              <a:t>- Appropriate use of slide templates and master slides for uniformity.</a:t>
            </a:r>
            <a:endParaRPr lang="en-US" sz="2200" dirty="0"/>
          </a:p>
          <a:p>
            <a:pPr indent="0" marL="0">
              <a:buNone/>
            </a:pPr>
            <a:endParaRPr lang="en-US" sz="2200" dirty="0"/>
          </a:p>
          <a:p>
            <a:pPr indent="0" marL="0">
              <a:buNone/>
            </a:pPr>
            <a:r>
              <a:rPr lang="en-US" sz="2200" dirty="0">
                <a:solidFill>
                  <a:srgbClr val="000000"/>
                </a:solidFill>
              </a:rPr>
              <a:t>4. Content Segmentation for Slides  </a:t>
            </a:r>
            <a:endParaRPr lang="en-US" sz="2200" dirty="0"/>
          </a:p>
          <a:p>
            <a:pPr indent="0" marL="0">
              <a:buNone/>
            </a:pPr>
            <a:r>
              <a:rPr lang="en-US" sz="2200" dirty="0">
                <a:solidFill>
                  <a:srgbClr val="000000"/>
                </a:solidFill>
              </a:rPr>
              <a:t>Breaking the document into logical sections translates into individual slides or groups of slides. Start with an introductory slide, followed by slides that parallel document chapters or sections. Each slide should focus on one concept or theme — for complex topics, multiple slides may be required. Summaries or key takeaways at the end reinforce learning.</a:t>
            </a:r>
            <a:endParaRPr lang="en-US" sz="2200" dirty="0"/>
          </a:p>
          <a:p>
            <a:pPr indent="0" marL="0">
              <a:buNone/>
            </a:pPr>
            <a:endParaRPr lang="en-US" sz="2200" dirty="0"/>
          </a:p>
          <a:p>
            <a:pPr indent="0" marL="0">
              <a:buNone/>
            </a:pPr>
            <a:r>
              <a:rPr lang="en-US" sz="2200" dirty="0">
                <a:solidFill>
                  <a:srgbClr val="000000"/>
                </a:solidFill>
              </a:rPr>
              <a:t>5. Visual Elements and Enhancements  </a:t>
            </a:r>
            <a:endParaRPr lang="en-US" sz="2200" dirty="0"/>
          </a:p>
          <a:p>
            <a:pPr indent="0" marL="0">
              <a:buNone/>
            </a:pPr>
            <a:r>
              <a:rPr lang="en-US" sz="2200" dirty="0">
                <a:solidFill>
                  <a:srgbClr val="000000"/>
                </a:solidFill>
              </a:rPr>
              <a:t>Visual aids bolster understanding and retention. These may include:  </a:t>
            </a:r>
            <a:endParaRPr lang="en-US" sz="2200" dirty="0"/>
          </a:p>
          <a:p>
            <a:pPr indent="0" marL="0">
              <a:buNone/>
            </a:pPr>
            <a:r>
              <a:rPr lang="en-US" sz="2200" dirty="0">
                <a:solidFill>
                  <a:srgbClr val="000000"/>
                </a:solidFill>
              </a:rPr>
              <a:t>- Graphs and charts representing data trends and comparisons.  </a:t>
            </a:r>
            <a:endParaRPr lang="en-US" sz="2200" dirty="0"/>
          </a:p>
          <a:p>
            <a:pPr indent="0" marL="0">
              <a:buNone/>
            </a:pPr>
            <a:r>
              <a:rPr lang="en-US" sz="2200" dirty="0">
                <a:solidFill>
                  <a:srgbClr val="000000"/>
                </a:solidFill>
              </a:rPr>
              <a:t>- Images and icons to illustrate concepts.  </a:t>
            </a:r>
            <a:endParaRPr lang="en-US" sz="2200" dirty="0"/>
          </a:p>
          <a:p>
            <a:pPr indent="0" marL="0">
              <a:buNone/>
            </a:pPr>
            <a:r>
              <a:rPr lang="en-US" sz="2200" dirty="0">
                <a:solidFill>
                  <a:srgbClr val="000000"/>
                </a:solidFill>
              </a:rPr>
              <a:t>- Diagrams and flowcharts to explain processes.  </a:t>
            </a:r>
            <a:endParaRPr lang="en-US" sz="2200" dirty="0"/>
          </a:p>
          <a:p>
            <a:pPr indent="0" marL="0">
              <a:buNone/>
            </a:pPr>
            <a:r>
              <a:rPr lang="en-US" sz="2200" dirty="0">
                <a:solidFill>
                  <a:srgbClr val="000000"/>
                </a:solidFill>
              </a:rPr>
              <a:t>- Animations to emphasize or sequence information logically.  </a:t>
            </a:r>
            <a:endParaRPr lang="en-US" sz="2200" dirty="0"/>
          </a:p>
          <a:p>
            <a:pPr indent="0" marL="0">
              <a:buNone/>
            </a:pPr>
            <a:r>
              <a:rPr lang="en-US" sz="2200" dirty="0">
                <a:solidFill>
                  <a:srgbClr val="000000"/>
                </a:solidFill>
              </a:rPr>
              <a:t>All multimedia should be purposeful and avoid distraction.</a:t>
            </a:r>
            <a:endParaRPr lang="en-US" sz="2200" dirty="0"/>
          </a:p>
          <a:p>
            <a:pPr indent="0" marL="0">
              <a:buNone/>
            </a:pPr>
            <a:endParaRPr lang="en-US" sz="2200" dirty="0"/>
          </a:p>
          <a:p>
            <a:pPr indent="0" marL="0">
              <a:buNone/>
            </a:pPr>
            <a:r>
              <a:rPr lang="en-US" sz="2200" dirty="0">
                <a:solidFill>
                  <a:srgbClr val="000000"/>
                </a:solidFill>
              </a:rPr>
              <a:t>6. Examples of Document-to-Presentation Conversion  </a:t>
            </a:r>
            <a:endParaRPr lang="en-US" sz="2200" dirty="0"/>
          </a:p>
          <a:p>
            <a:pPr indent="0" marL="0">
              <a:buNone/>
            </a:pPr>
            <a:r>
              <a:rPr lang="en-US" sz="2200" dirty="0">
                <a:solidFill>
                  <a:srgbClr val="000000"/>
                </a:solidFill>
              </a:rPr>
              <a:t>Example 1: Converting a Technical Report  </a:t>
            </a:r>
            <a:endParaRPr lang="en-US" sz="2200" dirty="0"/>
          </a:p>
          <a:p>
            <a:pPr indent="0" marL="0">
              <a:buNone/>
            </a:pPr>
            <a:r>
              <a:rPr lang="en-US" sz="2200" dirty="0">
                <a:solidFill>
                  <a:srgbClr val="000000"/>
                </a:solidFill>
              </a:rPr>
              <a:t>- The introduction and abstract condensed into one slide.  </a:t>
            </a:r>
            <a:endParaRPr lang="en-US" sz="2200" dirty="0"/>
          </a:p>
          <a:p>
            <a:pPr indent="0" marL="0">
              <a:buNone/>
            </a:pPr>
            <a:r>
              <a:rPr lang="en-US" sz="2200" dirty="0">
                <a:solidFill>
                  <a:srgbClr val="000000"/>
                </a:solidFill>
              </a:rPr>
              <a:t>- Methodology summarized with a flowchart spanning two slides.  </a:t>
            </a:r>
            <a:endParaRPr lang="en-US" sz="2200" dirty="0"/>
          </a:p>
          <a:p>
            <a:pPr indent="0" marL="0">
              <a:buNone/>
            </a:pPr>
            <a:r>
              <a:rPr lang="en-US" sz="2200" dirty="0">
                <a:solidFill>
                  <a:srgbClr val="000000"/>
                </a:solidFill>
              </a:rPr>
              <a:t>- Results illustrated with graphs and key findings bullet points.  </a:t>
            </a:r>
            <a:endParaRPr lang="en-US" sz="2200" dirty="0"/>
          </a:p>
          <a:p>
            <a:pPr indent="0" marL="0">
              <a:buNone/>
            </a:pPr>
            <a:r>
              <a:rPr lang="en-US" sz="2200" dirty="0">
                <a:solidFill>
                  <a:srgbClr val="000000"/>
                </a:solidFill>
              </a:rPr>
              <a:t>- Conclusion and recommendations presented as a final slide.</a:t>
            </a:r>
            <a:endParaRPr lang="en-US" sz="2200" dirty="0"/>
          </a:p>
          <a:p>
            <a:pPr indent="0" marL="0">
              <a:buNone/>
            </a:pPr>
            <a:endParaRPr lang="en-US" sz="2200" dirty="0"/>
          </a:p>
          <a:p>
            <a:pPr indent="0" marL="0">
              <a:buNone/>
            </a:pPr>
            <a:r>
              <a:rPr lang="en-US" sz="2200" dirty="0">
                <a:solidFill>
                  <a:srgbClr val="000000"/>
                </a:solidFill>
              </a:rPr>
              <a:t>Example 2: Transforming an Academic Paper  </a:t>
            </a:r>
            <a:endParaRPr lang="en-US" sz="2200" dirty="0"/>
          </a:p>
          <a:p>
            <a:pPr indent="0" marL="0">
              <a:buNone/>
            </a:pPr>
            <a:r>
              <a:rPr lang="en-US" sz="2200" dirty="0">
                <a:solidFill>
                  <a:srgbClr val="000000"/>
                </a:solidFill>
              </a:rPr>
              <a:t>- Background and problem statement in initial slides.  </a:t>
            </a:r>
            <a:endParaRPr lang="en-US" sz="2200" dirty="0"/>
          </a:p>
          <a:p>
            <a:pPr indent="0" marL="0">
              <a:buNone/>
            </a:pPr>
            <a:r>
              <a:rPr lang="en-US" sz="2200" dirty="0">
                <a:solidFill>
                  <a:srgbClr val="000000"/>
                </a:solidFill>
              </a:rPr>
              <a:t>- Literature review captured in summarized bullet points with references.  </a:t>
            </a:r>
            <a:endParaRPr lang="en-US" sz="2200" dirty="0"/>
          </a:p>
          <a:p>
            <a:pPr indent="0" marL="0">
              <a:buNone/>
            </a:pPr>
            <a:r>
              <a:rPr lang="en-US" sz="2200" dirty="0">
                <a:solidFill>
                  <a:srgbClr val="000000"/>
                </a:solidFill>
              </a:rPr>
              <a:t>- Detailed experimental setup represented with visuals and concise text.  </a:t>
            </a:r>
            <a:endParaRPr lang="en-US" sz="2200" dirty="0"/>
          </a:p>
          <a:p>
            <a:pPr indent="0" marL="0">
              <a:buNone/>
            </a:pPr>
            <a:r>
              <a:rPr lang="en-US" sz="2200" dirty="0">
                <a:solidFill>
                  <a:srgbClr val="000000"/>
                </a:solidFill>
              </a:rPr>
              <a:t>- Discussion split across multiple slides for clarity.  </a:t>
            </a:r>
            <a:endParaRPr lang="en-US" sz="2200" dirty="0"/>
          </a:p>
          <a:p>
            <a:pPr indent="0" marL="0">
              <a:buNone/>
            </a:pPr>
            <a:r>
              <a:rPr lang="en-US" sz="2200" dirty="0">
                <a:solidFill>
                  <a:srgbClr val="000000"/>
                </a:solidFill>
              </a:rPr>
              <a:t>- Summary slide highlighting contributions and future research.</a:t>
            </a:r>
            <a:endParaRPr lang="en-US" sz="2200" dirty="0"/>
          </a:p>
          <a:p>
            <a:pPr indent="0" marL="0">
              <a:buNone/>
            </a:pPr>
            <a:endParaRPr lang="en-US" sz="2200" dirty="0"/>
          </a:p>
          <a:p>
            <a:pPr indent="0" marL="0">
              <a:buNone/>
            </a:pPr>
            <a:r>
              <a:rPr lang="en-US" sz="2200" dirty="0">
                <a:solidFill>
                  <a:srgbClr val="000000"/>
                </a:solidFill>
              </a:rPr>
              <a:t>7. Advantages of Using PowerPoint for Presentations  </a:t>
            </a:r>
            <a:endParaRPr lang="en-US" sz="2200" dirty="0"/>
          </a:p>
          <a:p>
            <a:pPr indent="0" marL="0">
              <a:buNone/>
            </a:pPr>
            <a:r>
              <a:rPr lang="en-US" sz="2200" dirty="0">
                <a:solidFill>
                  <a:srgbClr val="000000"/>
                </a:solidFill>
              </a:rPr>
              <a:t>- Enhances audience engagement through visual communication.  </a:t>
            </a:r>
            <a:endParaRPr lang="en-US" sz="2200" dirty="0"/>
          </a:p>
          <a:p>
            <a:pPr indent="0" marL="0">
              <a:buNone/>
            </a:pPr>
            <a:r>
              <a:rPr lang="en-US" sz="2200" dirty="0">
                <a:solidFill>
                  <a:srgbClr val="000000"/>
                </a:solidFill>
              </a:rPr>
              <a:t>- Facilitates easier understanding of complex information.  </a:t>
            </a:r>
            <a:endParaRPr lang="en-US" sz="2200" dirty="0"/>
          </a:p>
          <a:p>
            <a:pPr indent="0" marL="0">
              <a:buNone/>
            </a:pPr>
            <a:r>
              <a:rPr lang="en-US" sz="2200" dirty="0">
                <a:solidFill>
                  <a:srgbClr val="000000"/>
                </a:solidFill>
              </a:rPr>
              <a:t>- Supports inclusion of multimedia for richer presentations.  </a:t>
            </a:r>
            <a:endParaRPr lang="en-US" sz="2200" dirty="0"/>
          </a:p>
          <a:p>
            <a:pPr indent="0" marL="0">
              <a:buNone/>
            </a:pPr>
            <a:r>
              <a:rPr lang="en-US" sz="2200" dirty="0">
                <a:solidFill>
                  <a:srgbClr val="000000"/>
                </a:solidFill>
              </a:rPr>
              <a:t>- Allows presenter flexibility and control during delivery.  </a:t>
            </a:r>
            <a:endParaRPr lang="en-US" sz="2200" dirty="0"/>
          </a:p>
          <a:p>
            <a:pPr indent="0" marL="0">
              <a:buNone/>
            </a:pPr>
            <a:r>
              <a:rPr lang="en-US" sz="2200" dirty="0">
                <a:solidFill>
                  <a:srgbClr val="000000"/>
                </a:solidFill>
              </a:rPr>
              <a:t>- Widely accessible and supported across platforms.</a:t>
            </a:r>
            <a:endParaRPr lang="en-US" sz="2200" dirty="0"/>
          </a:p>
          <a:p>
            <a:pPr indent="0" marL="0">
              <a:buNone/>
            </a:pPr>
            <a:endParaRPr lang="en-US" sz="2200" dirty="0"/>
          </a:p>
          <a:p>
            <a:pPr indent="0" marL="0">
              <a:buNone/>
            </a:pPr>
            <a:r>
              <a:rPr lang="en-US" sz="2200" dirty="0">
                <a:solidFill>
                  <a:srgbClr val="000000"/>
                </a:solidFill>
              </a:rPr>
              <a:t>8. Disadvantages and Limitations  </a:t>
            </a:r>
            <a:endParaRPr lang="en-US" sz="2200" dirty="0"/>
          </a:p>
          <a:p>
            <a:pPr indent="0" marL="0">
              <a:buNone/>
            </a:pPr>
            <a:r>
              <a:rPr lang="en-US" sz="2200" dirty="0">
                <a:solidFill>
                  <a:srgbClr val="000000"/>
                </a:solidFill>
              </a:rPr>
              <a:t>- Risk of slide overload with too much text or complex visuals.  </a:t>
            </a:r>
            <a:endParaRPr lang="en-US" sz="2200" dirty="0"/>
          </a:p>
          <a:p>
            <a:pPr indent="0" marL="0">
              <a:buNone/>
            </a:pPr>
            <a:r>
              <a:rPr lang="en-US" sz="2200" dirty="0">
                <a:solidFill>
                  <a:srgbClr val="000000"/>
                </a:solidFill>
              </a:rPr>
              <a:t>- Potential technical issues during presentation (compatibility, hardware).  </a:t>
            </a:r>
            <a:endParaRPr lang="en-US" sz="2200" dirty="0"/>
          </a:p>
          <a:p>
            <a:pPr indent="0" marL="0">
              <a:buNone/>
            </a:pPr>
            <a:r>
              <a:rPr lang="en-US" sz="2200" dirty="0">
                <a:solidFill>
                  <a:srgbClr val="000000"/>
                </a:solidFill>
              </a:rPr>
              <a:t>- May encourage presenter over-reliance on slides reducing interaction.  </a:t>
            </a:r>
            <a:endParaRPr lang="en-US" sz="2200" dirty="0"/>
          </a:p>
          <a:p>
            <a:pPr indent="0" marL="0">
              <a:buNone/>
            </a:pPr>
            <a:r>
              <a:rPr lang="en-US" sz="2200" dirty="0">
                <a:solidFill>
                  <a:srgbClr val="000000"/>
                </a:solidFill>
              </a:rPr>
              <a:t>- Time-consuming preparation if improperly planned.</a:t>
            </a:r>
            <a:endParaRPr lang="en-US" sz="2200" dirty="0"/>
          </a:p>
          <a:p>
            <a:pPr indent="0" marL="0">
              <a:buNone/>
            </a:pPr>
            <a:endParaRPr lang="en-US" sz="2200" dirty="0"/>
          </a:p>
          <a:p>
            <a:pPr indent="0" marL="0">
              <a:buNone/>
            </a:pPr>
            <a:r>
              <a:rPr lang="en-US" sz="2200" dirty="0">
                <a:solidFill>
                  <a:srgbClr val="000000"/>
                </a:solidFill>
              </a:rPr>
              <a:t>9. Applications of Document-Based Presentations  </a:t>
            </a:r>
            <a:endParaRPr lang="en-US" sz="2200" dirty="0"/>
          </a:p>
          <a:p>
            <a:pPr indent="0" marL="0">
              <a:buNone/>
            </a:pPr>
            <a:r>
              <a:rPr lang="en-US" sz="2200" dirty="0">
                <a:solidFill>
                  <a:srgbClr val="000000"/>
                </a:solidFill>
              </a:rPr>
              <a:t>- Corporate meetings and business proposals.  </a:t>
            </a:r>
            <a:endParaRPr lang="en-US" sz="2200" dirty="0"/>
          </a:p>
          <a:p>
            <a:pPr indent="0" marL="0">
              <a:buNone/>
            </a:pPr>
            <a:r>
              <a:rPr lang="en-US" sz="2200" dirty="0">
                <a:solidFill>
                  <a:srgbClr val="000000"/>
                </a:solidFill>
              </a:rPr>
              <a:t>- Academic conferences and educational lectures.  </a:t>
            </a:r>
            <a:endParaRPr lang="en-US" sz="2200" dirty="0"/>
          </a:p>
          <a:p>
            <a:pPr indent="0" marL="0">
              <a:buNone/>
            </a:pPr>
            <a:r>
              <a:rPr lang="en-US" sz="2200" dirty="0">
                <a:solidFill>
                  <a:srgbClr val="000000"/>
                </a:solidFill>
              </a:rPr>
              <a:t>- Training and professional development sessions.  </a:t>
            </a:r>
            <a:endParaRPr lang="en-US" sz="2200" dirty="0"/>
          </a:p>
          <a:p>
            <a:pPr indent="0" marL="0">
              <a:buNone/>
            </a:pPr>
            <a:r>
              <a:rPr lang="en-US" sz="2200" dirty="0">
                <a:solidFill>
                  <a:srgbClr val="000000"/>
                </a:solidFill>
              </a:rPr>
              <a:t>- Marketing and sales pitches.  </a:t>
            </a:r>
            <a:endParaRPr lang="en-US" sz="2200" dirty="0"/>
          </a:p>
          <a:p>
            <a:pPr indent="0" marL="0">
              <a:buNone/>
            </a:pPr>
            <a:r>
              <a:rPr lang="en-US" sz="2200" dirty="0">
                <a:solidFill>
                  <a:srgbClr val="000000"/>
                </a:solidFill>
              </a:rPr>
              <a:t>- Status reporting and stakeholder briefings.</a:t>
            </a:r>
            <a:endParaRPr lang="en-US" sz="2200" dirty="0"/>
          </a:p>
          <a:p>
            <a:pPr indent="0" marL="0">
              <a:buNone/>
            </a:pPr>
            <a:endParaRPr lang="en-US" sz="2200" dirty="0"/>
          </a:p>
          <a:p>
            <a:pPr indent="0" marL="0">
              <a:buNone/>
            </a:pPr>
            <a:r>
              <a:rPr lang="en-US" sz="2200" dirty="0">
                <a:solidFill>
                  <a:srgbClr val="000000"/>
                </a:solidFill>
              </a:rPr>
              <a:t>10. Future Scope of Document Conversion Technologies  </a:t>
            </a:r>
            <a:endParaRPr lang="en-US" sz="2200" dirty="0"/>
          </a:p>
          <a:p>
            <a:pPr indent="0" marL="0">
              <a:buNone/>
            </a:pPr>
            <a:r>
              <a:rPr lang="en-US" sz="2200" dirty="0">
                <a:solidFill>
                  <a:srgbClr val="000000"/>
                </a:solidFill>
              </a:rPr>
              <a:t>- Integration with artificial intelligence for automated summarization and slide creation.  </a:t>
            </a:r>
            <a:endParaRPr lang="en-US" sz="2200" dirty="0"/>
          </a:p>
          <a:p>
            <a:pPr indent="0" marL="0">
              <a:buNone/>
            </a:pPr>
            <a:r>
              <a:rPr lang="en-US" sz="2200" dirty="0">
                <a:solidFill>
                  <a:srgbClr val="000000"/>
                </a:solidFill>
              </a:rPr>
              <a:t>- Enhanced multimedia embedding with augmented and virtual reality elements.  </a:t>
            </a:r>
            <a:endParaRPr lang="en-US" sz="2200" dirty="0"/>
          </a:p>
          <a:p>
            <a:pPr indent="0" marL="0">
              <a:buNone/>
            </a:pPr>
            <a:r>
              <a:rPr lang="en-US" sz="2200" dirty="0">
                <a:solidFill>
                  <a:srgbClr val="000000"/>
                </a:solidFill>
              </a:rPr>
              <a:t>- Collaborative cloud-based platforms enabling real-time content transformation.  </a:t>
            </a:r>
            <a:endParaRPr lang="en-US" sz="2200" dirty="0"/>
          </a:p>
          <a:p>
            <a:pPr indent="0" marL="0">
              <a:buNone/>
            </a:pPr>
            <a:r>
              <a:rPr lang="en-US" sz="2200" dirty="0">
                <a:solidFill>
                  <a:srgbClr val="000000"/>
                </a:solidFill>
              </a:rPr>
              <a:t>- Advanced analytics to gauge audience engagement and adapt presentations accordingly.</a:t>
            </a:r>
            <a:endParaRPr lang="en-US" sz="2200" dirty="0"/>
          </a:p>
          <a:p>
            <a:pPr indent="0" marL="0">
              <a:buNone/>
            </a:pPr>
            <a:endParaRPr lang="en-US" sz="2200" dirty="0"/>
          </a:p>
          <a:p>
            <a:pPr indent="0" marL="0">
              <a:buNone/>
            </a:pPr>
            <a:r>
              <a:rPr lang="en-US" sz="2200" dirty="0">
                <a:solidFill>
                  <a:srgbClr val="000000"/>
                </a:solidFill>
              </a:rPr>
              <a:t>11. Conclusion  </a:t>
            </a:r>
            <a:endParaRPr lang="en-US" sz="2200" dirty="0"/>
          </a:p>
          <a:p>
            <a:pPr indent="0" marL="0">
              <a:buNone/>
            </a:pPr>
            <a:r>
              <a:rPr lang="en-US" sz="2200" dirty="0">
                <a:solidFill>
                  <a:srgbClr val="000000"/>
                </a:solidFill>
              </a:rPr>
              <a:t>Converting professional documents into effective PowerPoint presentations requires careful content analysis, thoughtful segmentation, and strategic visual design. When executed properly, this process amplifies communication effectiveness, catering to diverse audiences. Continued advancements in technology promise to make this conversion more streamlined, dynamic, and interactive, thereby shaping the future of professional communication.</a:t>
            </a:r>
            <a:endParaRPr lang="en-US" sz="2200" dirty="0"/>
          </a:p>
          <a:p>
            <a:pPr indent="0" marL="0">
              <a:buNone/>
            </a:pPr>
            <a:endParaRPr lang="en-US" sz="2200" dirty="0"/>
          </a:p>
          <a:p>
            <a:pPr indent="0" marL="0">
              <a:buNone/>
            </a:pPr>
            <a:r>
              <a:rPr lang="en-US" sz="2200" dirty="0">
                <a:solidFill>
                  <a:srgbClr val="000000"/>
                </a:solidFill>
              </a:rPr>
              <a:t>---</a:t>
            </a:r>
            <a:endParaRPr lang="en-US" sz="2200" dirty="0"/>
          </a:p>
          <a:p>
            <a:pPr indent="0" marL="0">
              <a:buNone/>
            </a:pPr>
            <a:endParaRPr lang="en-US" sz="2200" dirty="0"/>
          </a:p>
          <a:p>
            <a:pPr indent="0" marL="0">
              <a:buNone/>
            </a:pPr>
            <a:r>
              <a:rPr lang="en-US" sz="2200" dirty="0">
                <a:solidFill>
                  <a:srgbClr val="000000"/>
                </a:solidFill>
              </a:rPr>
              <a:t>End of Document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2026-07-02T06:42:52Z</dcterms:created>
  <dcterms:modified xsi:type="dcterms:W3CDTF">2026-07-02T06:42:52Z</dcterms:modified>
</cp:coreProperties>
</file>