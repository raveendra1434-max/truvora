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565C0"/>
          </a:solidFill>
          <a:ln w="12700">
            <a:solidFill>
              <a:srgbClr val="1565C0">
                <a:alpha val="0"/>
              </a:srgbClr>
            </a:solidFill>
            <a:prstDash val="solid"/>
          </a:ln>
        </p:spPr>
      </p:sp>
      <p:sp>
        <p:nvSpPr>
          <p:cNvPr id="3" name="Shape 1"/>
          <p:cNvSpPr/>
          <p:nvPr/>
        </p:nvSpPr>
        <p:spPr>
          <a:xfrm>
            <a:off x="411480" y="6446520"/>
            <a:ext cx="11365992" cy="0"/>
          </a:xfrm>
          <a:prstGeom prst="line">
            <a:avLst/>
          </a:prstGeom>
          <a:noFill/>
          <a:ln w="12700">
            <a:solidFill>
              <a:srgbClr val="DCE3E8"/>
            </a:solidFill>
            <a:prstDash val="solid"/>
          </a:ln>
        </p:spPr>
      </p:sp>
      <p:sp>
        <p:nvSpPr>
          <p:cNvPr id="4" name="Text 2"/>
          <p:cNvSpPr/>
          <p:nvPr/>
        </p:nvSpPr>
        <p:spPr>
          <a:xfrm>
            <a:off x="411480" y="6519672"/>
            <a:ext cx="3200400" cy="164592"/>
          </a:xfrm>
          <a:prstGeom prst="rect">
            <a:avLst/>
          </a:prstGeom>
          <a:noFill/>
          <a:ln/>
        </p:spPr>
        <p:txBody>
          <a:bodyPr wrap="square" rtlCol="0" anchor="ctr"/>
          <a:lstStyle/>
          <a:p>
            <a:pPr indent="0" marL="0">
              <a:buNone/>
            </a:pPr>
            <a:r>
              <a:rPr lang="en-US" sz="800" b="1" dirty="0">
                <a:solidFill>
                  <a:srgbClr val="607D8B"/>
                </a:solidFill>
                <a:latin typeface="Aptos" pitchFamily="34" charset="0"/>
                <a:ea typeface="Aptos" pitchFamily="34" charset="-122"/>
                <a:cs typeface="Aptos" pitchFamily="34" charset="-120"/>
              </a:rPr>
              <a:t>TRUVORA GLOBAL AI</a:t>
            </a:r>
            <a:endParaRPr lang="en-US" sz="800" dirty="0"/>
          </a:p>
        </p:txBody>
      </p:sp>
      <p:sp>
        <p:nvSpPr>
          <p:cNvPr id="5" name="Text 3"/>
          <p:cNvSpPr/>
          <p:nvPr/>
        </p:nvSpPr>
        <p:spPr>
          <a:xfrm>
            <a:off x="3840480" y="6519672"/>
            <a:ext cx="4572000" cy="164592"/>
          </a:xfrm>
          <a:prstGeom prst="rect">
            <a:avLst/>
          </a:prstGeom>
          <a:noFill/>
          <a:ln/>
        </p:spPr>
        <p:txBody>
          <a:bodyPr wrap="square" rtlCol="0" anchor="ctr"/>
          <a:lstStyle/>
          <a:p>
            <a:pPr algn="ctr" indent="0" marL="0">
              <a:buNone/>
            </a:pPr>
            <a:r>
              <a:rPr lang="en-US" sz="800" dirty="0">
                <a:solidFill>
                  <a:srgbClr val="607D8B"/>
                </a:solidFill>
                <a:latin typeface="Aptos" pitchFamily="34" charset="0"/>
                <a:ea typeface="Aptos" pitchFamily="34" charset="-122"/>
                <a:cs typeface="Aptos" pitchFamily="34" charset="-120"/>
              </a:rPr>
              <a:t>Intelligence • Innovation • Trust</a:t>
            </a:r>
            <a:endParaRPr lang="en-US" sz="800" dirty="0"/>
          </a:p>
        </p:txBody>
      </p:sp>
      <p:sp>
        <p:nvSpPr>
          <p:cNvPr id="6" name="Text 4"/>
          <p:cNvSpPr/>
          <p:nvPr/>
        </p:nvSpPr>
        <p:spPr>
          <a:xfrm>
            <a:off x="10881360" y="6519672"/>
            <a:ext cx="868680" cy="164592"/>
          </a:xfrm>
          <a:prstGeom prst="rect">
            <a:avLst/>
          </a:prstGeom>
          <a:noFill/>
          <a:ln/>
        </p:spPr>
        <p:txBody>
          <a:bodyPr wrap="square" rtlCol="0" anchor="ctr"/>
          <a:lstStyle/>
          <a:p>
            <a:pPr algn="r" indent="0" marL="0">
              <a:buNone/>
            </a:pPr>
            <a:r>
              <a:rPr lang="en-US" sz="800" dirty="0">
                <a:solidFill>
                  <a:srgbClr val="607D8B"/>
                </a:solidFill>
                <a:latin typeface="Aptos" pitchFamily="34" charset="0"/>
                <a:ea typeface="Aptos" pitchFamily="34" charset="-122"/>
                <a:cs typeface="Aptos" pitchFamily="34" charset="-120"/>
              </a:rPr>
              <a:t>1 / 5</a:t>
            </a:r>
            <a:endParaRPr lang="en-US" sz="800" dirty="0"/>
          </a:p>
        </p:txBody>
      </p:sp>
      <p:sp>
        <p:nvSpPr>
          <p:cNvPr id="7" name="Text 5"/>
          <p:cNvSpPr/>
          <p:nvPr/>
        </p:nvSpPr>
        <p:spPr>
          <a:xfrm>
            <a:off x="594360" y="685800"/>
            <a:ext cx="6858000" cy="548640"/>
          </a:xfrm>
          <a:prstGeom prst="rect">
            <a:avLst/>
          </a:prstGeom>
          <a:noFill/>
          <a:ln/>
        </p:spPr>
        <p:txBody>
          <a:bodyPr wrap="square" lIns="0" tIns="0" rIns="0" bIns="0" rtlCol="0" anchor="ctr"/>
          <a:lstStyle/>
          <a:p>
            <a:pPr indent="0" marL="0">
              <a:buNone/>
            </a:pPr>
            <a:r>
              <a:rPr lang="en-US" sz="3200" b="1" dirty="0">
                <a:solidFill>
                  <a:srgbClr val="1565C0"/>
                </a:solidFill>
                <a:latin typeface="Aptos Display" pitchFamily="34" charset="0"/>
                <a:ea typeface="Aptos Display" pitchFamily="34" charset="-122"/>
                <a:cs typeface="Aptos Display" pitchFamily="34" charset="-120"/>
              </a:rPr>
              <a:t>TRUVORA</a:t>
            </a:r>
            <a:endParaRPr lang="en-US" sz="3200" dirty="0"/>
          </a:p>
        </p:txBody>
      </p:sp>
      <p:sp>
        <p:nvSpPr>
          <p:cNvPr id="8" name="Text 6"/>
          <p:cNvSpPr/>
          <p:nvPr/>
        </p:nvSpPr>
        <p:spPr>
          <a:xfrm>
            <a:off x="621792" y="1207008"/>
            <a:ext cx="6858000" cy="274320"/>
          </a:xfrm>
          <a:prstGeom prst="rect">
            <a:avLst/>
          </a:prstGeom>
          <a:noFill/>
          <a:ln/>
        </p:spPr>
        <p:txBody>
          <a:bodyPr wrap="square" lIns="0" tIns="0" rIns="0" bIns="0" rtlCol="0" anchor="ctr"/>
          <a:lstStyle/>
          <a:p>
            <a:pPr indent="0" marL="0">
              <a:buNone/>
            </a:pPr>
            <a:r>
              <a:rPr lang="en-US" sz="1400" b="1" dirty="0">
                <a:solidFill>
                  <a:srgbClr val="0D47A1"/>
                </a:solidFill>
                <a:latin typeface="Aptos" pitchFamily="34" charset="0"/>
                <a:ea typeface="Aptos" pitchFamily="34" charset="-122"/>
                <a:cs typeface="Aptos" pitchFamily="34" charset="-120"/>
              </a:rPr>
              <a:t>GLOBAL AI TECHNOLOGIES</a:t>
            </a:r>
            <a:endParaRPr lang="en-US" sz="1400" dirty="0"/>
          </a:p>
        </p:txBody>
      </p:sp>
      <p:sp>
        <p:nvSpPr>
          <p:cNvPr id="9" name="Text 7"/>
          <p:cNvSpPr/>
          <p:nvPr/>
        </p:nvSpPr>
        <p:spPr>
          <a:xfrm>
            <a:off x="621792" y="1554480"/>
            <a:ext cx="6858000" cy="274320"/>
          </a:xfrm>
          <a:prstGeom prst="rect">
            <a:avLst/>
          </a:prstGeom>
          <a:noFill/>
          <a:ln/>
        </p:spPr>
        <p:txBody>
          <a:bodyPr wrap="square" lIns="0" tIns="0" rIns="0" bIns="0" rtlCol="0" anchor="ctr"/>
          <a:lstStyle/>
          <a:p>
            <a:pPr indent="0" marL="0">
              <a:buNone/>
            </a:pPr>
            <a:r>
              <a:rPr lang="en-US" sz="1200" i="1" dirty="0">
                <a:solidFill>
                  <a:srgbClr val="607D8B"/>
                </a:solidFill>
                <a:latin typeface="Aptos" pitchFamily="34" charset="0"/>
                <a:ea typeface="Aptos" pitchFamily="34" charset="-122"/>
                <a:cs typeface="Aptos" pitchFamily="34" charset="-120"/>
              </a:rPr>
              <a:t>Intelligence • Innovation • Trust</a:t>
            </a:r>
            <a:endParaRPr lang="en-US" sz="1200" dirty="0"/>
          </a:p>
        </p:txBody>
      </p:sp>
      <p:sp>
        <p:nvSpPr>
          <p:cNvPr id="10" name="Shape 8"/>
          <p:cNvSpPr/>
          <p:nvPr/>
        </p:nvSpPr>
        <p:spPr>
          <a:xfrm>
            <a:off x="621792" y="2057400"/>
            <a:ext cx="4114800" cy="0"/>
          </a:xfrm>
          <a:prstGeom prst="line">
            <a:avLst/>
          </a:prstGeom>
          <a:noFill/>
          <a:ln w="38100">
            <a:solidFill>
              <a:srgbClr val="29B6F6"/>
            </a:solidFill>
            <a:prstDash val="solid"/>
          </a:ln>
        </p:spPr>
      </p:sp>
      <p:sp>
        <p:nvSpPr>
          <p:cNvPr id="11" name="Text 9"/>
          <p:cNvSpPr/>
          <p:nvPr/>
        </p:nvSpPr>
        <p:spPr>
          <a:xfrm>
            <a:off x="621792" y="2468880"/>
            <a:ext cx="10515600" cy="594360"/>
          </a:xfrm>
          <a:prstGeom prst="rect">
            <a:avLst/>
          </a:prstGeom>
          <a:noFill/>
          <a:ln/>
        </p:spPr>
        <p:txBody>
          <a:bodyPr wrap="square" lIns="0" tIns="0" rIns="0" bIns="0" rtlCol="0" anchor="ctr"/>
          <a:lstStyle/>
          <a:p>
            <a:pPr indent="0" marL="0">
              <a:buNone/>
            </a:pPr>
            <a:r>
              <a:rPr lang="en-US" sz="3000" b="1" dirty="0">
                <a:solidFill>
                  <a:srgbClr val="102A43"/>
                </a:solidFill>
                <a:latin typeface="Aptos Display" pitchFamily="34" charset="0"/>
                <a:ea typeface="Aptos Display" pitchFamily="34" charset="-122"/>
                <a:cs typeface="Aptos Display" pitchFamily="34" charset="-120"/>
              </a:rPr>
              <a:t>AI ANALYSIS REPORT</a:t>
            </a:r>
            <a:endParaRPr lang="en-US" sz="3000" dirty="0"/>
          </a:p>
        </p:txBody>
      </p:sp>
      <p:sp>
        <p:nvSpPr>
          <p:cNvPr id="12" name="Text 10"/>
          <p:cNvSpPr/>
          <p:nvPr/>
        </p:nvSpPr>
        <p:spPr>
          <a:xfrm>
            <a:off x="621792" y="3154680"/>
            <a:ext cx="10515600" cy="731520"/>
          </a:xfrm>
          <a:prstGeom prst="rect">
            <a:avLst/>
          </a:prstGeom>
          <a:noFill/>
          <a:ln/>
        </p:spPr>
        <p:txBody>
          <a:bodyPr wrap="square" lIns="0" tIns="0" rIns="0" bIns="0" rtlCol="0" anchor="ctr">
            <a:normAutofit/>
          </a:bodyPr>
          <a:lstStyle/>
          <a:p>
            <a:pPr indent="0" marL="0">
              <a:buNone/>
            </a:pPr>
            <a:r>
              <a:rPr lang="en-US" sz="2000" b="1" dirty="0">
                <a:solidFill>
                  <a:srgbClr val="263238"/>
                </a:solidFill>
                <a:latin typeface="Aptos" pitchFamily="34" charset="0"/>
                <a:ea typeface="Aptos" pitchFamily="34" charset="-122"/>
                <a:cs typeface="Aptos" pitchFamily="34" charset="-120"/>
              </a:rPr>
              <a:t>AI Analysis Report</a:t>
            </a:r>
            <a:endParaRPr lang="en-US" sz="2000" dirty="0"/>
          </a:p>
        </p:txBody>
      </p:sp>
      <p:sp>
        <p:nvSpPr>
          <p:cNvPr id="13" name="Shape 11"/>
          <p:cNvSpPr/>
          <p:nvPr/>
        </p:nvSpPr>
        <p:spPr>
          <a:xfrm>
            <a:off x="621792" y="4160520"/>
            <a:ext cx="5669280" cy="1234440"/>
          </a:xfrm>
          <a:prstGeom prst="roundRect">
            <a:avLst>
              <a:gd name="adj" fmla="val 5926"/>
            </a:avLst>
          </a:prstGeom>
          <a:solidFill>
            <a:srgbClr val="F4F7FA"/>
          </a:solidFill>
          <a:ln w="12700">
            <a:solidFill>
              <a:srgbClr val="DCE3E8"/>
            </a:solidFill>
            <a:prstDash val="solid"/>
          </a:ln>
        </p:spPr>
      </p:sp>
      <p:sp>
        <p:nvSpPr>
          <p:cNvPr id="14" name="Text 12"/>
          <p:cNvSpPr/>
          <p:nvPr/>
        </p:nvSpPr>
        <p:spPr>
          <a:xfrm>
            <a:off x="868680" y="4407408"/>
            <a:ext cx="5212080" cy="228600"/>
          </a:xfrm>
          <a:prstGeom prst="rect">
            <a:avLst/>
          </a:prstGeom>
          <a:noFill/>
          <a:ln/>
        </p:spPr>
        <p:txBody>
          <a:bodyPr wrap="square" lIns="0" tIns="0" rIns="0" bIns="0" rtlCol="0" anchor="ctr"/>
          <a:lstStyle/>
          <a:p>
            <a:pPr indent="0" marL="0">
              <a:buNone/>
            </a:pPr>
            <a:r>
              <a:rPr lang="en-US" sz="1200" dirty="0">
                <a:solidFill>
                  <a:srgbClr val="263238"/>
                </a:solidFill>
              </a:rPr>
              <a:t>Report ID: TRUVORA-1787937158417</a:t>
            </a:r>
            <a:endParaRPr lang="en-US" sz="1200" dirty="0"/>
          </a:p>
        </p:txBody>
      </p:sp>
      <p:sp>
        <p:nvSpPr>
          <p:cNvPr id="15" name="Text 13"/>
          <p:cNvSpPr/>
          <p:nvPr/>
        </p:nvSpPr>
        <p:spPr>
          <a:xfrm>
            <a:off x="868680" y="4736592"/>
            <a:ext cx="5212080" cy="228600"/>
          </a:xfrm>
          <a:prstGeom prst="rect">
            <a:avLst/>
          </a:prstGeom>
          <a:noFill/>
          <a:ln/>
        </p:spPr>
        <p:txBody>
          <a:bodyPr wrap="square" lIns="0" tIns="0" rIns="0" bIns="0" rtlCol="0" anchor="ctr"/>
          <a:lstStyle/>
          <a:p>
            <a:pPr indent="0" marL="0">
              <a:buNone/>
            </a:pPr>
            <a:r>
              <a:rPr lang="en-US" sz="1100" dirty="0">
                <a:solidFill>
                  <a:srgbClr val="607D8B"/>
                </a:solidFill>
              </a:rPr>
              <a:t>Generated: 8/28/2026, 10:12:38 AM</a:t>
            </a:r>
            <a:endParaRPr lang="en-US" sz="1100" dirty="0"/>
          </a:p>
        </p:txBody>
      </p:sp>
      <p:sp>
        <p:nvSpPr>
          <p:cNvPr id="16" name="Text 14"/>
          <p:cNvSpPr/>
          <p:nvPr/>
        </p:nvSpPr>
        <p:spPr>
          <a:xfrm>
            <a:off x="7406640" y="4617720"/>
            <a:ext cx="3931920" cy="320040"/>
          </a:xfrm>
          <a:prstGeom prst="rect">
            <a:avLst/>
          </a:prstGeom>
          <a:noFill/>
          <a:ln/>
        </p:spPr>
        <p:txBody>
          <a:bodyPr wrap="square" lIns="0" tIns="0" rIns="0" bIns="0" rtlCol="0" anchor="ctr"/>
          <a:lstStyle/>
          <a:p>
            <a:pPr algn="r" indent="0" marL="0">
              <a:buNone/>
            </a:pPr>
            <a:r>
              <a:rPr lang="en-US" sz="1500" b="1" dirty="0">
                <a:solidFill>
                  <a:srgbClr val="1565C0"/>
                </a:solidFill>
              </a:rPr>
              <a:t>Generated by Truvora AI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565C0"/>
          </a:solidFill>
          <a:ln w="12700">
            <a:solidFill>
              <a:srgbClr val="1565C0">
                <a:alpha val="0"/>
              </a:srgbClr>
            </a:solidFill>
            <a:prstDash val="solid"/>
          </a:ln>
        </p:spPr>
      </p:sp>
      <p:sp>
        <p:nvSpPr>
          <p:cNvPr id="3" name="Shape 1"/>
          <p:cNvSpPr/>
          <p:nvPr/>
        </p:nvSpPr>
        <p:spPr>
          <a:xfrm>
            <a:off x="411480" y="6446520"/>
            <a:ext cx="11365992" cy="0"/>
          </a:xfrm>
          <a:prstGeom prst="line">
            <a:avLst/>
          </a:prstGeom>
          <a:noFill/>
          <a:ln w="12700">
            <a:solidFill>
              <a:srgbClr val="DCE3E8"/>
            </a:solidFill>
            <a:prstDash val="solid"/>
          </a:ln>
        </p:spPr>
      </p:sp>
      <p:sp>
        <p:nvSpPr>
          <p:cNvPr id="4" name="Text 2"/>
          <p:cNvSpPr/>
          <p:nvPr/>
        </p:nvSpPr>
        <p:spPr>
          <a:xfrm>
            <a:off x="411480" y="6519672"/>
            <a:ext cx="3200400" cy="164592"/>
          </a:xfrm>
          <a:prstGeom prst="rect">
            <a:avLst/>
          </a:prstGeom>
          <a:noFill/>
          <a:ln/>
        </p:spPr>
        <p:txBody>
          <a:bodyPr wrap="square" rtlCol="0" anchor="ctr"/>
          <a:lstStyle/>
          <a:p>
            <a:pPr indent="0" marL="0">
              <a:buNone/>
            </a:pPr>
            <a:r>
              <a:rPr lang="en-US" sz="800" b="1" dirty="0">
                <a:solidFill>
                  <a:srgbClr val="607D8B"/>
                </a:solidFill>
                <a:latin typeface="Aptos" pitchFamily="34" charset="0"/>
                <a:ea typeface="Aptos" pitchFamily="34" charset="-122"/>
                <a:cs typeface="Aptos" pitchFamily="34" charset="-120"/>
              </a:rPr>
              <a:t>TRUVORA GLOBAL AI</a:t>
            </a:r>
            <a:endParaRPr lang="en-US" sz="800" dirty="0"/>
          </a:p>
        </p:txBody>
      </p:sp>
      <p:sp>
        <p:nvSpPr>
          <p:cNvPr id="5" name="Text 3"/>
          <p:cNvSpPr/>
          <p:nvPr/>
        </p:nvSpPr>
        <p:spPr>
          <a:xfrm>
            <a:off x="3840480" y="6519672"/>
            <a:ext cx="4572000" cy="164592"/>
          </a:xfrm>
          <a:prstGeom prst="rect">
            <a:avLst/>
          </a:prstGeom>
          <a:noFill/>
          <a:ln/>
        </p:spPr>
        <p:txBody>
          <a:bodyPr wrap="square" rtlCol="0" anchor="ctr"/>
          <a:lstStyle/>
          <a:p>
            <a:pPr algn="ctr" indent="0" marL="0">
              <a:buNone/>
            </a:pPr>
            <a:r>
              <a:rPr lang="en-US" sz="800" dirty="0">
                <a:solidFill>
                  <a:srgbClr val="607D8B"/>
                </a:solidFill>
                <a:latin typeface="Aptos" pitchFamily="34" charset="0"/>
                <a:ea typeface="Aptos" pitchFamily="34" charset="-122"/>
                <a:cs typeface="Aptos" pitchFamily="34" charset="-120"/>
              </a:rPr>
              <a:t>Intelligence • Innovation • Trust</a:t>
            </a:r>
            <a:endParaRPr lang="en-US" sz="800" dirty="0"/>
          </a:p>
        </p:txBody>
      </p:sp>
      <p:sp>
        <p:nvSpPr>
          <p:cNvPr id="6" name="Text 4"/>
          <p:cNvSpPr/>
          <p:nvPr/>
        </p:nvSpPr>
        <p:spPr>
          <a:xfrm>
            <a:off x="10881360" y="6519672"/>
            <a:ext cx="868680" cy="164592"/>
          </a:xfrm>
          <a:prstGeom prst="rect">
            <a:avLst/>
          </a:prstGeom>
          <a:noFill/>
          <a:ln/>
        </p:spPr>
        <p:txBody>
          <a:bodyPr wrap="square" rtlCol="0" anchor="ctr"/>
          <a:lstStyle/>
          <a:p>
            <a:pPr algn="r" indent="0" marL="0">
              <a:buNone/>
            </a:pPr>
            <a:r>
              <a:rPr lang="en-US" sz="800" dirty="0">
                <a:solidFill>
                  <a:srgbClr val="607D8B"/>
                </a:solidFill>
                <a:latin typeface="Aptos" pitchFamily="34" charset="0"/>
                <a:ea typeface="Aptos" pitchFamily="34" charset="-122"/>
                <a:cs typeface="Aptos" pitchFamily="34" charset="-120"/>
              </a:rPr>
              <a:t>2 / 5</a:t>
            </a:r>
            <a:endParaRPr lang="en-US" sz="800" dirty="0"/>
          </a:p>
        </p:txBody>
      </p:sp>
      <p:sp>
        <p:nvSpPr>
          <p:cNvPr id="7" name="Text 5"/>
          <p:cNvSpPr/>
          <p:nvPr/>
        </p:nvSpPr>
        <p:spPr>
          <a:xfrm>
            <a:off x="548640" y="438912"/>
            <a:ext cx="10789920" cy="411480"/>
          </a:xfrm>
          <a:prstGeom prst="rect">
            <a:avLst/>
          </a:prstGeom>
          <a:noFill/>
          <a:ln/>
        </p:spPr>
        <p:txBody>
          <a:bodyPr wrap="square" lIns="0" tIns="0" rIns="0" bIns="0" rtlCol="0" anchor="ctr"/>
          <a:lstStyle/>
          <a:p>
            <a:pPr indent="0" marL="0">
              <a:buNone/>
            </a:pPr>
            <a:r>
              <a:rPr lang="en-US" sz="2400" b="1" dirty="0">
                <a:solidFill>
                  <a:srgbClr val="1565C0"/>
                </a:solidFill>
                <a:latin typeface="Aptos Display" pitchFamily="34" charset="0"/>
                <a:ea typeface="Aptos Display" pitchFamily="34" charset="-122"/>
                <a:cs typeface="Aptos Display" pitchFamily="34" charset="-120"/>
              </a:rPr>
              <a:t>Executive Summary</a:t>
            </a:r>
            <a:endParaRPr lang="en-US" sz="2400" dirty="0"/>
          </a:p>
        </p:txBody>
      </p:sp>
      <p:sp>
        <p:nvSpPr>
          <p:cNvPr id="8" name="Shape 6"/>
          <p:cNvSpPr/>
          <p:nvPr/>
        </p:nvSpPr>
        <p:spPr>
          <a:xfrm>
            <a:off x="548640" y="941832"/>
            <a:ext cx="2377440" cy="0"/>
          </a:xfrm>
          <a:prstGeom prst="line">
            <a:avLst/>
          </a:prstGeom>
          <a:noFill/>
          <a:ln w="31750">
            <a:solidFill>
              <a:srgbClr val="29B6F6"/>
            </a:solidFill>
            <a:prstDash val="solid"/>
          </a:ln>
        </p:spPr>
      </p:sp>
      <p:sp>
        <p:nvSpPr>
          <p:cNvPr id="9" name="Text 7"/>
          <p:cNvSpPr/>
          <p:nvPr/>
        </p:nvSpPr>
        <p:spPr>
          <a:xfrm>
            <a:off x="594360" y="1188720"/>
            <a:ext cx="10972800" cy="4892040"/>
          </a:xfrm>
          <a:prstGeom prst="rect">
            <a:avLst/>
          </a:prstGeom>
          <a:noFill/>
          <a:ln/>
        </p:spPr>
        <p:txBody>
          <a:bodyPr wrap="square" lIns="1016" tIns="1016" rIns="1016" bIns="1016" rtlCol="0" anchor="t">
            <a:normAutofit/>
          </a:bodyPr>
          <a:lstStyle/>
          <a:p>
            <a:pPr indent="0" marL="0">
              <a:buNone/>
            </a:pPr>
            <a:r>
              <a:rPr lang="en-US" sz="1500" dirty="0">
                <a:solidFill>
                  <a:srgbClr val="263238"/>
                </a:solidFill>
                <a:latin typeface="Aptos" pitchFamily="34" charset="0"/>
                <a:ea typeface="Aptos" pitchFamily="34" charset="-122"/>
                <a:cs typeface="Aptos" pitchFamily="34" charset="-120"/>
              </a:rPr>
              <a:t>Artificial intelligence (AI) is a type of technology that allows computers and machines to think and learn like humans. Instead of just following fixed instructions, AI can understand information, make decisions, and improve over time by learning from experience. For example, AI helps voice assistants like Siri or Alexa understand your questions and give answers, or helps recommend movies you might like on streaming services.</a:t>
            </a:r>
            <a:endParaRPr lang="en-US" sz="1500" dirty="0"/>
          </a:p>
          <a:p>
            <a:pPr indent="0" marL="0">
              <a:buNone/>
            </a:pPr>
            <a:endParaRPr lang="en-US" sz="1500" dirty="0"/>
          </a:p>
          <a:p>
            <a:pPr indent="0" marL="0">
              <a:buNone/>
            </a:pPr>
            <a:r>
              <a:rPr lang="en-US" sz="1500" dirty="0">
                <a:solidFill>
                  <a:srgbClr val="263238"/>
                </a:solidFill>
                <a:latin typeface="Aptos" pitchFamily="34" charset="0"/>
                <a:ea typeface="Aptos" pitchFamily="34" charset="-122"/>
                <a:cs typeface="Aptos" pitchFamily="34" charset="-120"/>
              </a:rPr>
              <a:t>In short, AI is about making machines smart enough to do tasks that usually need human intelligence.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565C0"/>
          </a:solidFill>
          <a:ln w="12700">
            <a:solidFill>
              <a:srgbClr val="1565C0">
                <a:alpha val="0"/>
              </a:srgbClr>
            </a:solidFill>
            <a:prstDash val="solid"/>
          </a:ln>
        </p:spPr>
      </p:sp>
      <p:sp>
        <p:nvSpPr>
          <p:cNvPr id="3" name="Shape 1"/>
          <p:cNvSpPr/>
          <p:nvPr/>
        </p:nvSpPr>
        <p:spPr>
          <a:xfrm>
            <a:off x="411480" y="6446520"/>
            <a:ext cx="11365992" cy="0"/>
          </a:xfrm>
          <a:prstGeom prst="line">
            <a:avLst/>
          </a:prstGeom>
          <a:noFill/>
          <a:ln w="12700">
            <a:solidFill>
              <a:srgbClr val="DCE3E8"/>
            </a:solidFill>
            <a:prstDash val="solid"/>
          </a:ln>
        </p:spPr>
      </p:sp>
      <p:sp>
        <p:nvSpPr>
          <p:cNvPr id="4" name="Text 2"/>
          <p:cNvSpPr/>
          <p:nvPr/>
        </p:nvSpPr>
        <p:spPr>
          <a:xfrm>
            <a:off x="411480" y="6519672"/>
            <a:ext cx="3200400" cy="164592"/>
          </a:xfrm>
          <a:prstGeom prst="rect">
            <a:avLst/>
          </a:prstGeom>
          <a:noFill/>
          <a:ln/>
        </p:spPr>
        <p:txBody>
          <a:bodyPr wrap="square" rtlCol="0" anchor="ctr"/>
          <a:lstStyle/>
          <a:p>
            <a:pPr indent="0" marL="0">
              <a:buNone/>
            </a:pPr>
            <a:r>
              <a:rPr lang="en-US" sz="800" b="1" dirty="0">
                <a:solidFill>
                  <a:srgbClr val="607D8B"/>
                </a:solidFill>
                <a:latin typeface="Aptos" pitchFamily="34" charset="0"/>
                <a:ea typeface="Aptos" pitchFamily="34" charset="-122"/>
                <a:cs typeface="Aptos" pitchFamily="34" charset="-120"/>
              </a:rPr>
              <a:t>TRUVORA GLOBAL AI</a:t>
            </a:r>
            <a:endParaRPr lang="en-US" sz="800" dirty="0"/>
          </a:p>
        </p:txBody>
      </p:sp>
      <p:sp>
        <p:nvSpPr>
          <p:cNvPr id="5" name="Text 3"/>
          <p:cNvSpPr/>
          <p:nvPr/>
        </p:nvSpPr>
        <p:spPr>
          <a:xfrm>
            <a:off x="3840480" y="6519672"/>
            <a:ext cx="4572000" cy="164592"/>
          </a:xfrm>
          <a:prstGeom prst="rect">
            <a:avLst/>
          </a:prstGeom>
          <a:noFill/>
          <a:ln/>
        </p:spPr>
        <p:txBody>
          <a:bodyPr wrap="square" rtlCol="0" anchor="ctr"/>
          <a:lstStyle/>
          <a:p>
            <a:pPr algn="ctr" indent="0" marL="0">
              <a:buNone/>
            </a:pPr>
            <a:r>
              <a:rPr lang="en-US" sz="800" dirty="0">
                <a:solidFill>
                  <a:srgbClr val="607D8B"/>
                </a:solidFill>
                <a:latin typeface="Aptos" pitchFamily="34" charset="0"/>
                <a:ea typeface="Aptos" pitchFamily="34" charset="-122"/>
                <a:cs typeface="Aptos" pitchFamily="34" charset="-120"/>
              </a:rPr>
              <a:t>Intelligence • Innovation • Trust</a:t>
            </a:r>
            <a:endParaRPr lang="en-US" sz="800" dirty="0"/>
          </a:p>
        </p:txBody>
      </p:sp>
      <p:sp>
        <p:nvSpPr>
          <p:cNvPr id="6" name="Text 4"/>
          <p:cNvSpPr/>
          <p:nvPr/>
        </p:nvSpPr>
        <p:spPr>
          <a:xfrm>
            <a:off x="10881360" y="6519672"/>
            <a:ext cx="868680" cy="164592"/>
          </a:xfrm>
          <a:prstGeom prst="rect">
            <a:avLst/>
          </a:prstGeom>
          <a:noFill/>
          <a:ln/>
        </p:spPr>
        <p:txBody>
          <a:bodyPr wrap="square" rtlCol="0" anchor="ctr"/>
          <a:lstStyle/>
          <a:p>
            <a:pPr algn="r" indent="0" marL="0">
              <a:buNone/>
            </a:pPr>
            <a:r>
              <a:rPr lang="en-US" sz="800" dirty="0">
                <a:solidFill>
                  <a:srgbClr val="607D8B"/>
                </a:solidFill>
                <a:latin typeface="Aptos" pitchFamily="34" charset="0"/>
                <a:ea typeface="Aptos" pitchFamily="34" charset="-122"/>
                <a:cs typeface="Aptos" pitchFamily="34" charset="-120"/>
              </a:rPr>
              <a:t>3 / 5</a:t>
            </a:r>
            <a:endParaRPr lang="en-US" sz="800" dirty="0"/>
          </a:p>
        </p:txBody>
      </p:sp>
      <p:sp>
        <p:nvSpPr>
          <p:cNvPr id="7" name="Text 5"/>
          <p:cNvSpPr/>
          <p:nvPr/>
        </p:nvSpPr>
        <p:spPr>
          <a:xfrm>
            <a:off x="548640" y="438912"/>
            <a:ext cx="10789920" cy="411480"/>
          </a:xfrm>
          <a:prstGeom prst="rect">
            <a:avLst/>
          </a:prstGeom>
          <a:noFill/>
          <a:ln/>
        </p:spPr>
        <p:txBody>
          <a:bodyPr wrap="square" lIns="0" tIns="0" rIns="0" bIns="0" rtlCol="0" anchor="ctr"/>
          <a:lstStyle/>
          <a:p>
            <a:pPr indent="0" marL="0">
              <a:buNone/>
            </a:pPr>
            <a:r>
              <a:rPr lang="en-US" sz="2400" b="1" dirty="0">
                <a:solidFill>
                  <a:srgbClr val="1565C0"/>
                </a:solidFill>
                <a:latin typeface="Aptos Display" pitchFamily="34" charset="0"/>
                <a:ea typeface="Aptos Display" pitchFamily="34" charset="-122"/>
                <a:cs typeface="Aptos Display" pitchFamily="34" charset="-120"/>
              </a:rPr>
              <a:t>Detailed Analysis</a:t>
            </a:r>
            <a:endParaRPr lang="en-US" sz="2400" dirty="0"/>
          </a:p>
        </p:txBody>
      </p:sp>
      <p:sp>
        <p:nvSpPr>
          <p:cNvPr id="8" name="Shape 6"/>
          <p:cNvSpPr/>
          <p:nvPr/>
        </p:nvSpPr>
        <p:spPr>
          <a:xfrm>
            <a:off x="548640" y="941832"/>
            <a:ext cx="2377440" cy="0"/>
          </a:xfrm>
          <a:prstGeom prst="line">
            <a:avLst/>
          </a:prstGeom>
          <a:noFill/>
          <a:ln w="31750">
            <a:solidFill>
              <a:srgbClr val="29B6F6"/>
            </a:solidFill>
            <a:prstDash val="solid"/>
          </a:ln>
        </p:spPr>
      </p:sp>
      <p:sp>
        <p:nvSpPr>
          <p:cNvPr id="9" name="Text 7"/>
          <p:cNvSpPr/>
          <p:nvPr/>
        </p:nvSpPr>
        <p:spPr>
          <a:xfrm>
            <a:off x="594360" y="1188720"/>
            <a:ext cx="10972800" cy="4892040"/>
          </a:xfrm>
          <a:prstGeom prst="rect">
            <a:avLst/>
          </a:prstGeom>
          <a:noFill/>
          <a:ln/>
        </p:spPr>
        <p:txBody>
          <a:bodyPr wrap="square" lIns="1016" tIns="1016" rIns="1016" bIns="1016" rtlCol="0" anchor="t">
            <a:normAutofit/>
          </a:bodyPr>
          <a:lstStyle/>
          <a:p>
            <a:pPr indent="0" marL="0">
              <a:buNone/>
            </a:pPr>
            <a:r>
              <a:rPr lang="en-US" sz="1400" dirty="0">
                <a:solidFill>
                  <a:srgbClr val="263238"/>
                </a:solidFill>
                <a:latin typeface="Aptos" pitchFamily="34" charset="0"/>
                <a:ea typeface="Aptos" pitchFamily="34" charset="-122"/>
                <a:cs typeface="Aptos" pitchFamily="34" charset="-120"/>
              </a:rPr>
              <a:t>Artificial intelligence (AI) is a type of technology that allows computers and machines to think and learn like humans. Instead of just following fixed instructions, AI can understand information, make decisions, and improve over time by learning from experience. For example, AI helps voice assistants like Siri or Alexa understand your questions and give answers, or helps recommend movies you might like on streaming services.</a:t>
            </a:r>
            <a:endParaRPr lang="en-US" sz="1400" dirty="0"/>
          </a:p>
          <a:p>
            <a:pPr indent="0" marL="0">
              <a:buNone/>
            </a:pPr>
            <a:endParaRPr lang="en-US" sz="1400" dirty="0"/>
          </a:p>
          <a:p>
            <a:pPr indent="0" marL="0">
              <a:buNone/>
            </a:pPr>
            <a:r>
              <a:rPr lang="en-US" sz="1400" dirty="0">
                <a:solidFill>
                  <a:srgbClr val="263238"/>
                </a:solidFill>
                <a:latin typeface="Aptos" pitchFamily="34" charset="0"/>
                <a:ea typeface="Aptos" pitchFamily="34" charset="-122"/>
                <a:cs typeface="Aptos" pitchFamily="34" charset="-120"/>
              </a:rPr>
              <a:t>In short, AI is about making machines smart enough to do tasks that usually need human intelligence.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565C0"/>
          </a:solidFill>
          <a:ln w="12700">
            <a:solidFill>
              <a:srgbClr val="1565C0">
                <a:alpha val="0"/>
              </a:srgbClr>
            </a:solidFill>
            <a:prstDash val="solid"/>
          </a:ln>
        </p:spPr>
      </p:sp>
      <p:sp>
        <p:nvSpPr>
          <p:cNvPr id="3" name="Shape 1"/>
          <p:cNvSpPr/>
          <p:nvPr/>
        </p:nvSpPr>
        <p:spPr>
          <a:xfrm>
            <a:off x="411480" y="6446520"/>
            <a:ext cx="11365992" cy="0"/>
          </a:xfrm>
          <a:prstGeom prst="line">
            <a:avLst/>
          </a:prstGeom>
          <a:noFill/>
          <a:ln w="12700">
            <a:solidFill>
              <a:srgbClr val="DCE3E8"/>
            </a:solidFill>
            <a:prstDash val="solid"/>
          </a:ln>
        </p:spPr>
      </p:sp>
      <p:sp>
        <p:nvSpPr>
          <p:cNvPr id="4" name="Text 2"/>
          <p:cNvSpPr/>
          <p:nvPr/>
        </p:nvSpPr>
        <p:spPr>
          <a:xfrm>
            <a:off x="411480" y="6519672"/>
            <a:ext cx="3200400" cy="164592"/>
          </a:xfrm>
          <a:prstGeom prst="rect">
            <a:avLst/>
          </a:prstGeom>
          <a:noFill/>
          <a:ln/>
        </p:spPr>
        <p:txBody>
          <a:bodyPr wrap="square" rtlCol="0" anchor="ctr"/>
          <a:lstStyle/>
          <a:p>
            <a:pPr indent="0" marL="0">
              <a:buNone/>
            </a:pPr>
            <a:r>
              <a:rPr lang="en-US" sz="800" b="1" dirty="0">
                <a:solidFill>
                  <a:srgbClr val="607D8B"/>
                </a:solidFill>
                <a:latin typeface="Aptos" pitchFamily="34" charset="0"/>
                <a:ea typeface="Aptos" pitchFamily="34" charset="-122"/>
                <a:cs typeface="Aptos" pitchFamily="34" charset="-120"/>
              </a:rPr>
              <a:t>TRUVORA GLOBAL AI</a:t>
            </a:r>
            <a:endParaRPr lang="en-US" sz="800" dirty="0"/>
          </a:p>
        </p:txBody>
      </p:sp>
      <p:sp>
        <p:nvSpPr>
          <p:cNvPr id="5" name="Text 3"/>
          <p:cNvSpPr/>
          <p:nvPr/>
        </p:nvSpPr>
        <p:spPr>
          <a:xfrm>
            <a:off x="3840480" y="6519672"/>
            <a:ext cx="4572000" cy="164592"/>
          </a:xfrm>
          <a:prstGeom prst="rect">
            <a:avLst/>
          </a:prstGeom>
          <a:noFill/>
          <a:ln/>
        </p:spPr>
        <p:txBody>
          <a:bodyPr wrap="square" rtlCol="0" anchor="ctr"/>
          <a:lstStyle/>
          <a:p>
            <a:pPr algn="ctr" indent="0" marL="0">
              <a:buNone/>
            </a:pPr>
            <a:r>
              <a:rPr lang="en-US" sz="800" dirty="0">
                <a:solidFill>
                  <a:srgbClr val="607D8B"/>
                </a:solidFill>
                <a:latin typeface="Aptos" pitchFamily="34" charset="0"/>
                <a:ea typeface="Aptos" pitchFamily="34" charset="-122"/>
                <a:cs typeface="Aptos" pitchFamily="34" charset="-120"/>
              </a:rPr>
              <a:t>Intelligence • Innovation • Trust</a:t>
            </a:r>
            <a:endParaRPr lang="en-US" sz="800" dirty="0"/>
          </a:p>
        </p:txBody>
      </p:sp>
      <p:sp>
        <p:nvSpPr>
          <p:cNvPr id="6" name="Text 4"/>
          <p:cNvSpPr/>
          <p:nvPr/>
        </p:nvSpPr>
        <p:spPr>
          <a:xfrm>
            <a:off x="10881360" y="6519672"/>
            <a:ext cx="868680" cy="164592"/>
          </a:xfrm>
          <a:prstGeom prst="rect">
            <a:avLst/>
          </a:prstGeom>
          <a:noFill/>
          <a:ln/>
        </p:spPr>
        <p:txBody>
          <a:bodyPr wrap="square" rtlCol="0" anchor="ctr"/>
          <a:lstStyle/>
          <a:p>
            <a:pPr algn="r" indent="0" marL="0">
              <a:buNone/>
            </a:pPr>
            <a:r>
              <a:rPr lang="en-US" sz="800" dirty="0">
                <a:solidFill>
                  <a:srgbClr val="607D8B"/>
                </a:solidFill>
                <a:latin typeface="Aptos" pitchFamily="34" charset="0"/>
                <a:ea typeface="Aptos" pitchFamily="34" charset="-122"/>
                <a:cs typeface="Aptos" pitchFamily="34" charset="-120"/>
              </a:rPr>
              <a:t>4 / 5</a:t>
            </a:r>
            <a:endParaRPr lang="en-US" sz="800" dirty="0"/>
          </a:p>
        </p:txBody>
      </p:sp>
      <p:sp>
        <p:nvSpPr>
          <p:cNvPr id="7" name="Text 5"/>
          <p:cNvSpPr/>
          <p:nvPr/>
        </p:nvSpPr>
        <p:spPr>
          <a:xfrm>
            <a:off x="548640" y="438912"/>
            <a:ext cx="10789920" cy="411480"/>
          </a:xfrm>
          <a:prstGeom prst="rect">
            <a:avLst/>
          </a:prstGeom>
          <a:noFill/>
          <a:ln/>
        </p:spPr>
        <p:txBody>
          <a:bodyPr wrap="square" lIns="0" tIns="0" rIns="0" bIns="0" rtlCol="0" anchor="ctr"/>
          <a:lstStyle/>
          <a:p>
            <a:pPr indent="0" marL="0">
              <a:buNone/>
            </a:pPr>
            <a:r>
              <a:rPr lang="en-US" sz="2400" b="1" dirty="0">
                <a:solidFill>
                  <a:srgbClr val="1565C0"/>
                </a:solidFill>
                <a:latin typeface="Aptos Display" pitchFamily="34" charset="0"/>
                <a:ea typeface="Aptos Display" pitchFamily="34" charset="-122"/>
                <a:cs typeface="Aptos Display" pitchFamily="34" charset="-120"/>
              </a:rPr>
              <a:t>Recommendations</a:t>
            </a:r>
            <a:endParaRPr lang="en-US" sz="2400" dirty="0"/>
          </a:p>
        </p:txBody>
      </p:sp>
      <p:sp>
        <p:nvSpPr>
          <p:cNvPr id="8" name="Shape 6"/>
          <p:cNvSpPr/>
          <p:nvPr/>
        </p:nvSpPr>
        <p:spPr>
          <a:xfrm>
            <a:off x="548640" y="941832"/>
            <a:ext cx="2377440" cy="0"/>
          </a:xfrm>
          <a:prstGeom prst="line">
            <a:avLst/>
          </a:prstGeom>
          <a:noFill/>
          <a:ln w="31750">
            <a:solidFill>
              <a:srgbClr val="29B6F6"/>
            </a:solidFill>
            <a:prstDash val="solid"/>
          </a:ln>
        </p:spPr>
      </p:sp>
      <p:sp>
        <p:nvSpPr>
          <p:cNvPr id="9" name="Text 7"/>
          <p:cNvSpPr/>
          <p:nvPr/>
        </p:nvSpPr>
        <p:spPr>
          <a:xfrm>
            <a:off x="594360" y="1188720"/>
            <a:ext cx="10972800" cy="4892040"/>
          </a:xfrm>
          <a:prstGeom prst="rect">
            <a:avLst/>
          </a:prstGeom>
          <a:noFill/>
          <a:ln/>
        </p:spPr>
        <p:txBody>
          <a:bodyPr wrap="square" lIns="1016" tIns="1016" rIns="1016" bIns="1016" rtlCol="0" anchor="t">
            <a:normAutofit/>
          </a:bodyPr>
          <a:lstStyle/>
          <a:p>
            <a:pPr indent="0" marL="0">
              <a:buNone/>
            </a:pPr>
            <a:r>
              <a:rPr lang="en-US" sz="1400" dirty="0">
                <a:solidFill>
                  <a:srgbClr val="263238"/>
                </a:solidFill>
                <a:latin typeface="Aptos" pitchFamily="34" charset="0"/>
                <a:ea typeface="Aptos" pitchFamily="34" charset="-122"/>
                <a:cs typeface="Aptos" pitchFamily="34" charset="-120"/>
              </a:rPr>
              <a:t>No content available.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2026-08-28T17:12:38Z</dcterms:created>
  <dcterms:modified xsi:type="dcterms:W3CDTF">2026-08-28T17:12:38Z</dcterms:modified>
</cp:coreProperties>
</file>