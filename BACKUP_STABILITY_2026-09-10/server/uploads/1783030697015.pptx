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7315200" cy="4572000"/>
          </a:xfrm>
          <a:prstGeom prst="rect">
            <a:avLst/>
          </a:prstGeom>
          <a:noFill/>
          <a:ln/>
        </p:spPr>
        <p:txBody>
          <a:bodyPr wrap="square" rtlCol="0" anchor="ctr"/>
          <a:lstStyle/>
          <a:p>
            <a:pPr indent="0" marL="0">
              <a:buNone/>
            </a:pPr>
            <a:r>
              <a:rPr lang="en-US" sz="2200" dirty="0">
                <a:solidFill>
                  <a:srgbClr val="000000"/>
                </a:solidFill>
              </a:rPr>
              <a:t>Video-to-PowerPoint Conversion: A Comprehensive Guide</a:t>
            </a:r>
            <a:endParaRPr lang="en-US" sz="2200" dirty="0"/>
          </a:p>
          <a:p>
            <a:pPr indent="0" marL="0">
              <a:buNone/>
            </a:pPr>
            <a:endParaRPr lang="en-US" sz="2200" dirty="0"/>
          </a:p>
          <a:p>
            <a:pPr indent="0" marL="0">
              <a:buNone/>
            </a:pPr>
            <a:r>
              <a:rPr lang="en-US" sz="2200" dirty="0">
                <a:solidFill>
                  <a:srgbClr val="000000"/>
                </a:solidFill>
              </a:rPr>
              <a:t>Table of Contents</a:t>
            </a:r>
            <a:endParaRPr lang="en-US" sz="2200" dirty="0"/>
          </a:p>
          <a:p>
            <a:pPr indent="0" marL="0">
              <a:buNone/>
            </a:pPr>
            <a:endParaRPr lang="en-US" sz="2200" dirty="0"/>
          </a:p>
          <a:p>
            <a:pPr indent="0" marL="0">
              <a:buNone/>
            </a:pPr>
            <a:r>
              <a:rPr lang="en-US" sz="2200" dirty="0">
                <a:solidFill>
                  <a:srgbClr val="000000"/>
                </a:solidFill>
              </a:rPr>
              <a:t>1. Introduction  </a:t>
            </a:r>
            <a:endParaRPr lang="en-US" sz="2200" dirty="0"/>
          </a:p>
          <a:p>
            <a:pPr indent="0" marL="0">
              <a:buNone/>
            </a:pPr>
            <a:r>
              <a:rPr lang="en-US" sz="2200" dirty="0">
                <a:solidFill>
                  <a:srgbClr val="000000"/>
                </a:solidFill>
              </a:rPr>
              <a:t>2. Understanding Video Content for Presentation  </a:t>
            </a:r>
            <a:endParaRPr lang="en-US" sz="2200" dirty="0"/>
          </a:p>
          <a:p>
            <a:pPr indent="0" marL="0">
              <a:buNone/>
            </a:pPr>
            <a:r>
              <a:rPr lang="en-US" sz="2200" dirty="0">
                <a:solidFill>
                  <a:srgbClr val="000000"/>
                </a:solidFill>
              </a:rPr>
              <a:t>3. Methods of Converting Video to PowerPoint  </a:t>
            </a:r>
            <a:endParaRPr lang="en-US" sz="2200" dirty="0"/>
          </a:p>
          <a:p>
            <a:pPr indent="0" marL="0">
              <a:buNone/>
            </a:pPr>
            <a:r>
              <a:rPr lang="en-US" sz="2200" dirty="0">
                <a:solidFill>
                  <a:srgbClr val="000000"/>
                </a:solidFill>
              </a:rPr>
              <a:t>    3.1 Embedding Videos Directly  </a:t>
            </a:r>
            <a:endParaRPr lang="en-US" sz="2200" dirty="0"/>
          </a:p>
          <a:p>
            <a:pPr indent="0" marL="0">
              <a:buNone/>
            </a:pPr>
            <a:r>
              <a:rPr lang="en-US" sz="2200" dirty="0">
                <a:solidFill>
                  <a:srgbClr val="000000"/>
                </a:solidFill>
              </a:rPr>
              <a:t>    3.2 Extracting Key Frames and Images  </a:t>
            </a:r>
            <a:endParaRPr lang="en-US" sz="2200" dirty="0"/>
          </a:p>
          <a:p>
            <a:pPr indent="0" marL="0">
              <a:buNone/>
            </a:pPr>
            <a:r>
              <a:rPr lang="en-US" sz="2200" dirty="0">
                <a:solidFill>
                  <a:srgbClr val="000000"/>
                </a:solidFill>
              </a:rPr>
              <a:t>    3.3 Transcribing Audio to Text  </a:t>
            </a:r>
            <a:endParaRPr lang="en-US" sz="2200" dirty="0"/>
          </a:p>
          <a:p>
            <a:pPr indent="0" marL="0">
              <a:buNone/>
            </a:pPr>
            <a:r>
              <a:rPr lang="en-US" sz="2200" dirty="0">
                <a:solidFill>
                  <a:srgbClr val="000000"/>
                </a:solidFill>
              </a:rPr>
              <a:t>    3.4 Creating Slide Content from Video Script  </a:t>
            </a:r>
            <a:endParaRPr lang="en-US" sz="2200" dirty="0"/>
          </a:p>
          <a:p>
            <a:pPr indent="0" marL="0">
              <a:buNone/>
            </a:pPr>
            <a:r>
              <a:rPr lang="en-US" sz="2200" dirty="0">
                <a:solidFill>
                  <a:srgbClr val="000000"/>
                </a:solidFill>
              </a:rPr>
              <a:t>4. Tools and Software for Conversion  </a:t>
            </a:r>
            <a:endParaRPr lang="en-US" sz="2200" dirty="0"/>
          </a:p>
          <a:p>
            <a:pPr indent="0" marL="0">
              <a:buNone/>
            </a:pPr>
            <a:r>
              <a:rPr lang="en-US" sz="2200" dirty="0">
                <a:solidFill>
                  <a:srgbClr val="000000"/>
                </a:solidFill>
              </a:rPr>
              <a:t>5. Step-by-Step Process  </a:t>
            </a:r>
            <a:endParaRPr lang="en-US" sz="2200" dirty="0"/>
          </a:p>
          <a:p>
            <a:pPr indent="0" marL="0">
              <a:buNone/>
            </a:pPr>
            <a:r>
              <a:rPr lang="en-US" sz="2200" dirty="0">
                <a:solidFill>
                  <a:srgbClr val="000000"/>
                </a:solidFill>
              </a:rPr>
              <a:t>6. Examples  </a:t>
            </a:r>
            <a:endParaRPr lang="en-US" sz="2200" dirty="0"/>
          </a:p>
          <a:p>
            <a:pPr indent="0" marL="0">
              <a:buNone/>
            </a:pPr>
            <a:r>
              <a:rPr lang="en-US" sz="2200" dirty="0">
                <a:solidFill>
                  <a:srgbClr val="000000"/>
                </a:solidFill>
              </a:rPr>
              <a:t>7. Advantages of Video-to-PowerPoint Conversion  </a:t>
            </a:r>
            <a:endParaRPr lang="en-US" sz="2200" dirty="0"/>
          </a:p>
          <a:p>
            <a:pPr indent="0" marL="0">
              <a:buNone/>
            </a:pPr>
            <a:r>
              <a:rPr lang="en-US" sz="2200" dirty="0">
                <a:solidFill>
                  <a:srgbClr val="000000"/>
                </a:solidFill>
              </a:rPr>
              <a:t>8. Disadvantages and Limitations  </a:t>
            </a:r>
            <a:endParaRPr lang="en-US" sz="2200" dirty="0"/>
          </a:p>
          <a:p>
            <a:pPr indent="0" marL="0">
              <a:buNone/>
            </a:pPr>
            <a:r>
              <a:rPr lang="en-US" sz="2200" dirty="0">
                <a:solidFill>
                  <a:srgbClr val="000000"/>
                </a:solidFill>
              </a:rPr>
              <a:t>9. Applications  </a:t>
            </a:r>
            <a:endParaRPr lang="en-US" sz="2200" dirty="0"/>
          </a:p>
          <a:p>
            <a:pPr indent="0" marL="0">
              <a:buNone/>
            </a:pPr>
            <a:r>
              <a:rPr lang="en-US" sz="2200" dirty="0">
                <a:solidFill>
                  <a:srgbClr val="000000"/>
                </a:solidFill>
              </a:rPr>
              <a:t>10. Future Scope  </a:t>
            </a:r>
            <a:endParaRPr lang="en-US" sz="2200" dirty="0"/>
          </a:p>
          <a:p>
            <a:pPr indent="0" marL="0">
              <a:buNone/>
            </a:pPr>
            <a:r>
              <a:rPr lang="en-US" sz="2200" dirty="0">
                <a:solidFill>
                  <a:srgbClr val="000000"/>
                </a:solidFill>
              </a:rPr>
              <a:t>11. Conclusion  </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1. Introduction</a:t>
            </a:r>
            <a:endParaRPr lang="en-US" sz="2200" dirty="0"/>
          </a:p>
          <a:p>
            <a:pPr indent="0" marL="0">
              <a:buNone/>
            </a:pPr>
            <a:endParaRPr lang="en-US" sz="2200" dirty="0"/>
          </a:p>
          <a:p>
            <a:pPr indent="0" marL="0">
              <a:buNone/>
            </a:pPr>
            <a:r>
              <a:rPr lang="en-US" sz="2200" dirty="0">
                <a:solidFill>
                  <a:srgbClr val="000000"/>
                </a:solidFill>
              </a:rPr>
              <a:t>In today’s digital landscape, videos are increasingly used for communication, education, and marketing. However, for formal presentations or environments where static content is preferred, transforming video content into a PowerPoint (PPTX) format becomes essential. This document provides an in-depth guide to converting video content into PowerPoint presentations, detailing methods, tools, examples, and considerations involved.</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2. Understanding Video Content for Presentation</a:t>
            </a:r>
            <a:endParaRPr lang="en-US" sz="2200" dirty="0"/>
          </a:p>
          <a:p>
            <a:pPr indent="0" marL="0">
              <a:buNone/>
            </a:pPr>
            <a:endParaRPr lang="en-US" sz="2200" dirty="0"/>
          </a:p>
          <a:p>
            <a:pPr indent="0" marL="0">
              <a:buNone/>
            </a:pPr>
            <a:r>
              <a:rPr lang="en-US" sz="2200" dirty="0">
                <a:solidFill>
                  <a:srgbClr val="000000"/>
                </a:solidFill>
              </a:rPr>
              <a:t>Videos combine visual, auditory, and textual information. For effective conversion into PowerPoint, it is important to analyze the video to identify the key components:</a:t>
            </a:r>
            <a:endParaRPr lang="en-US" sz="2200" dirty="0"/>
          </a:p>
          <a:p>
            <a:pPr indent="0" marL="0">
              <a:buNone/>
            </a:pPr>
            <a:endParaRPr lang="en-US" sz="2200" dirty="0"/>
          </a:p>
          <a:p>
            <a:pPr indent="0" marL="0">
              <a:buNone/>
            </a:pPr>
            <a:r>
              <a:rPr lang="en-US" sz="2200" dirty="0">
                <a:solidFill>
                  <a:srgbClr val="000000"/>
                </a:solidFill>
              </a:rPr>
              <a:t>- Visual scenes and images  </a:t>
            </a:r>
            <a:endParaRPr lang="en-US" sz="2200" dirty="0"/>
          </a:p>
          <a:p>
            <a:pPr indent="0" marL="0">
              <a:buNone/>
            </a:pPr>
            <a:r>
              <a:rPr lang="en-US" sz="2200" dirty="0">
                <a:solidFill>
                  <a:srgbClr val="000000"/>
                </a:solidFill>
              </a:rPr>
              <a:t>- Spoken dialogue or narration  </a:t>
            </a:r>
            <a:endParaRPr lang="en-US" sz="2200" dirty="0"/>
          </a:p>
          <a:p>
            <a:pPr indent="0" marL="0">
              <a:buNone/>
            </a:pPr>
            <a:r>
              <a:rPr lang="en-US" sz="2200" dirty="0">
                <a:solidFill>
                  <a:srgbClr val="000000"/>
                </a:solidFill>
              </a:rPr>
              <a:t>- On-screen text or titles  </a:t>
            </a:r>
            <a:endParaRPr lang="en-US" sz="2200" dirty="0"/>
          </a:p>
          <a:p>
            <a:pPr indent="0" marL="0">
              <a:buNone/>
            </a:pPr>
            <a:r>
              <a:rPr lang="en-US" sz="2200" dirty="0">
                <a:solidFill>
                  <a:srgbClr val="000000"/>
                </a:solidFill>
              </a:rPr>
              <a:t>- Time-sequenced events or processes  </a:t>
            </a:r>
            <a:endParaRPr lang="en-US" sz="2200" dirty="0"/>
          </a:p>
          <a:p>
            <a:pPr indent="0" marL="0">
              <a:buNone/>
            </a:pPr>
            <a:endParaRPr lang="en-US" sz="2200" dirty="0"/>
          </a:p>
          <a:p>
            <a:pPr indent="0" marL="0">
              <a:buNone/>
            </a:pPr>
            <a:r>
              <a:rPr lang="en-US" sz="2200" dirty="0">
                <a:solidFill>
                  <a:srgbClr val="000000"/>
                </a:solidFill>
              </a:rPr>
              <a:t>Understanding these elements enables the extraction of appropriate slide content, ensuring the presentation conveys the essential message with clarity.</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3. Methods of Converting Video to PowerPoint</a:t>
            </a:r>
            <a:endParaRPr lang="en-US" sz="2200" dirty="0"/>
          </a:p>
          <a:p>
            <a:pPr indent="0" marL="0">
              <a:buNone/>
            </a:pPr>
            <a:endParaRPr lang="en-US" sz="2200" dirty="0"/>
          </a:p>
          <a:p>
            <a:pPr indent="0" marL="0">
              <a:buNone/>
            </a:pPr>
            <a:r>
              <a:rPr lang="en-US" sz="2200" dirty="0">
                <a:solidFill>
                  <a:srgbClr val="000000"/>
                </a:solidFill>
              </a:rPr>
              <a:t>3.1 Embedding Videos Directly</a:t>
            </a:r>
            <a:endParaRPr lang="en-US" sz="2200" dirty="0"/>
          </a:p>
          <a:p>
            <a:pPr indent="0" marL="0">
              <a:buNone/>
            </a:pPr>
            <a:endParaRPr lang="en-US" sz="2200" dirty="0"/>
          </a:p>
          <a:p>
            <a:pPr indent="0" marL="0">
              <a:buNone/>
            </a:pPr>
            <a:r>
              <a:rPr lang="en-US" sz="2200" dirty="0">
                <a:solidFill>
                  <a:srgbClr val="000000"/>
                </a:solidFill>
              </a:rPr>
              <a:t>PowerPoint supports embedding video files to play within slides, preserving the video’s full motion and audio content. This method keeps the video intact but reduces interactivity with slide elements.</a:t>
            </a:r>
            <a:endParaRPr lang="en-US" sz="2200" dirty="0"/>
          </a:p>
          <a:p>
            <a:pPr indent="0" marL="0">
              <a:buNone/>
            </a:pPr>
            <a:endParaRPr lang="en-US" sz="2200" dirty="0"/>
          </a:p>
          <a:p>
            <a:pPr indent="0" marL="0">
              <a:buNone/>
            </a:pPr>
            <a:r>
              <a:rPr lang="en-US" sz="2200" dirty="0">
                <a:solidFill>
                  <a:srgbClr val="000000"/>
                </a:solidFill>
              </a:rPr>
              <a:t>3.2 Extracting Key Frames and Images</a:t>
            </a:r>
            <a:endParaRPr lang="en-US" sz="2200" dirty="0"/>
          </a:p>
          <a:p>
            <a:pPr indent="0" marL="0">
              <a:buNone/>
            </a:pPr>
            <a:endParaRPr lang="en-US" sz="2200" dirty="0"/>
          </a:p>
          <a:p>
            <a:pPr indent="0" marL="0">
              <a:buNone/>
            </a:pPr>
            <a:r>
              <a:rPr lang="en-US" sz="2200" dirty="0">
                <a:solidFill>
                  <a:srgbClr val="000000"/>
                </a:solidFill>
              </a:rPr>
              <a:t>By capturing significant frames or screenshots from the video, static images can be created and inserted into slides to represent key moments or concepts visually.</a:t>
            </a:r>
            <a:endParaRPr lang="en-US" sz="2200" dirty="0"/>
          </a:p>
          <a:p>
            <a:pPr indent="0" marL="0">
              <a:buNone/>
            </a:pPr>
            <a:endParaRPr lang="en-US" sz="2200" dirty="0"/>
          </a:p>
          <a:p>
            <a:pPr indent="0" marL="0">
              <a:buNone/>
            </a:pPr>
            <a:r>
              <a:rPr lang="en-US" sz="2200" dirty="0">
                <a:solidFill>
                  <a:srgbClr val="000000"/>
                </a:solidFill>
              </a:rPr>
              <a:t>3.3 Transcribing Audio to Text</a:t>
            </a:r>
            <a:endParaRPr lang="en-US" sz="2200" dirty="0"/>
          </a:p>
          <a:p>
            <a:pPr indent="0" marL="0">
              <a:buNone/>
            </a:pPr>
            <a:endParaRPr lang="en-US" sz="2200" dirty="0"/>
          </a:p>
          <a:p>
            <a:pPr indent="0" marL="0">
              <a:buNone/>
            </a:pPr>
            <a:r>
              <a:rPr lang="en-US" sz="2200" dirty="0">
                <a:solidFill>
                  <a:srgbClr val="000000"/>
                </a:solidFill>
              </a:rPr>
              <a:t>Audio narration or dialogue can be transcribed manually or using speech recognition tools to produce textual content. This transcription forms the basis for slide text or speaker notes.</a:t>
            </a:r>
            <a:endParaRPr lang="en-US" sz="2200" dirty="0"/>
          </a:p>
          <a:p>
            <a:pPr indent="0" marL="0">
              <a:buNone/>
            </a:pPr>
            <a:endParaRPr lang="en-US" sz="2200" dirty="0"/>
          </a:p>
          <a:p>
            <a:pPr indent="0" marL="0">
              <a:buNone/>
            </a:pPr>
            <a:r>
              <a:rPr lang="en-US" sz="2200" dirty="0">
                <a:solidFill>
                  <a:srgbClr val="000000"/>
                </a:solidFill>
              </a:rPr>
              <a:t>3.4 Creating Slide Content from Video Script</a:t>
            </a:r>
            <a:endParaRPr lang="en-US" sz="2200" dirty="0"/>
          </a:p>
          <a:p>
            <a:pPr indent="0" marL="0">
              <a:buNone/>
            </a:pPr>
            <a:endParaRPr lang="en-US" sz="2200" dirty="0"/>
          </a:p>
          <a:p>
            <a:pPr indent="0" marL="0">
              <a:buNone/>
            </a:pPr>
            <a:r>
              <a:rPr lang="en-US" sz="2200" dirty="0">
                <a:solidFill>
                  <a:srgbClr val="000000"/>
                </a:solidFill>
              </a:rPr>
              <a:t>Summarizing or outlining the video script into key points, bullet lists, and headings creates slide content that conveys the video's message in a structured and concise manner.</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4. Tools and Software for Conversion</a:t>
            </a:r>
            <a:endParaRPr lang="en-US" sz="2200" dirty="0"/>
          </a:p>
          <a:p>
            <a:pPr indent="0" marL="0">
              <a:buNone/>
            </a:pPr>
            <a:endParaRPr lang="en-US" sz="2200" dirty="0"/>
          </a:p>
          <a:p>
            <a:pPr indent="0" marL="0">
              <a:buNone/>
            </a:pPr>
            <a:r>
              <a:rPr lang="en-US" sz="2200" dirty="0">
                <a:solidFill>
                  <a:srgbClr val="000000"/>
                </a:solidFill>
              </a:rPr>
              <a:t>- Video players with frame capture (e.g., VLC Media Player)  </a:t>
            </a:r>
            <a:endParaRPr lang="en-US" sz="2200" dirty="0"/>
          </a:p>
          <a:p>
            <a:pPr indent="0" marL="0">
              <a:buNone/>
            </a:pPr>
            <a:r>
              <a:rPr lang="en-US" sz="2200" dirty="0">
                <a:solidFill>
                  <a:srgbClr val="000000"/>
                </a:solidFill>
              </a:rPr>
              <a:t>- Speech-to-text transcription software (e.g., Otter.ai, Microsoft Azure Speech Services)  </a:t>
            </a:r>
            <a:endParaRPr lang="en-US" sz="2200" dirty="0"/>
          </a:p>
          <a:p>
            <a:pPr indent="0" marL="0">
              <a:buNone/>
            </a:pPr>
            <a:r>
              <a:rPr lang="en-US" sz="2200" dirty="0">
                <a:solidFill>
                  <a:srgbClr val="000000"/>
                </a:solidFill>
              </a:rPr>
              <a:t>- Video editors for segmenting content (e.g., Adobe Premiere Pro)  </a:t>
            </a:r>
            <a:endParaRPr lang="en-US" sz="2200" dirty="0"/>
          </a:p>
          <a:p>
            <a:pPr indent="0" marL="0">
              <a:buNone/>
            </a:pPr>
            <a:r>
              <a:rPr lang="en-US" sz="2200" dirty="0">
                <a:solidFill>
                  <a:srgbClr val="000000"/>
                </a:solidFill>
              </a:rPr>
              <a:t>- PowerPoint or other presentation software for assembling slides  </a:t>
            </a:r>
            <a:endParaRPr lang="en-US" sz="2200" dirty="0"/>
          </a:p>
          <a:p>
            <a:pPr indent="0" marL="0">
              <a:buNone/>
            </a:pPr>
            <a:r>
              <a:rPr lang="en-US" sz="2200" dirty="0">
                <a:solidFill>
                  <a:srgbClr val="000000"/>
                </a:solidFill>
              </a:rPr>
              <a:t>- AI-powered summarization tools to outline content  </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5. Step-by-Step Process</a:t>
            </a:r>
            <a:endParaRPr lang="en-US" sz="2200" dirty="0"/>
          </a:p>
          <a:p>
            <a:pPr indent="0" marL="0">
              <a:buNone/>
            </a:pPr>
            <a:endParaRPr lang="en-US" sz="2200" dirty="0"/>
          </a:p>
          <a:p>
            <a:pPr indent="0" marL="0">
              <a:buNone/>
            </a:pPr>
            <a:r>
              <a:rPr lang="en-US" sz="2200" dirty="0">
                <a:solidFill>
                  <a:srgbClr val="000000"/>
                </a:solidFill>
              </a:rPr>
              <a:t>Step 1: Watch and Analyze the Video    </a:t>
            </a:r>
            <a:endParaRPr lang="en-US" sz="2200" dirty="0"/>
          </a:p>
          <a:p>
            <a:pPr indent="0" marL="0">
              <a:buNone/>
            </a:pPr>
            <a:r>
              <a:rPr lang="en-US" sz="2200" dirty="0">
                <a:solidFill>
                  <a:srgbClr val="000000"/>
                </a:solidFill>
              </a:rPr>
              <a:t>Identify the major themes, segments, and messages to target in the presentation.</a:t>
            </a:r>
            <a:endParaRPr lang="en-US" sz="2200" dirty="0"/>
          </a:p>
          <a:p>
            <a:pPr indent="0" marL="0">
              <a:buNone/>
            </a:pPr>
            <a:endParaRPr lang="en-US" sz="2200" dirty="0"/>
          </a:p>
          <a:p>
            <a:pPr indent="0" marL="0">
              <a:buNone/>
            </a:pPr>
            <a:r>
              <a:rPr lang="en-US" sz="2200" dirty="0">
                <a:solidFill>
                  <a:srgbClr val="000000"/>
                </a:solidFill>
              </a:rPr>
              <a:t>Step 2: Extract Visual Content  </a:t>
            </a:r>
            <a:endParaRPr lang="en-US" sz="2200" dirty="0"/>
          </a:p>
          <a:p>
            <a:pPr indent="0" marL="0">
              <a:buNone/>
            </a:pPr>
            <a:r>
              <a:rPr lang="en-US" sz="2200" dirty="0">
                <a:solidFill>
                  <a:srgbClr val="000000"/>
                </a:solidFill>
              </a:rPr>
              <a:t>Capture key frames or images representing important information or stages.</a:t>
            </a:r>
            <a:endParaRPr lang="en-US" sz="2200" dirty="0"/>
          </a:p>
          <a:p>
            <a:pPr indent="0" marL="0">
              <a:buNone/>
            </a:pPr>
            <a:endParaRPr lang="en-US" sz="2200" dirty="0"/>
          </a:p>
          <a:p>
            <a:pPr indent="0" marL="0">
              <a:buNone/>
            </a:pPr>
            <a:r>
              <a:rPr lang="en-US" sz="2200" dirty="0">
                <a:solidFill>
                  <a:srgbClr val="000000"/>
                </a:solidFill>
              </a:rPr>
              <a:t>Step 3: Transcribe Spoken Content  </a:t>
            </a:r>
            <a:endParaRPr lang="en-US" sz="2200" dirty="0"/>
          </a:p>
          <a:p>
            <a:pPr indent="0" marL="0">
              <a:buNone/>
            </a:pPr>
            <a:r>
              <a:rPr lang="en-US" sz="2200" dirty="0">
                <a:solidFill>
                  <a:srgbClr val="000000"/>
                </a:solidFill>
              </a:rPr>
              <a:t>Use automatic or manual transcription to produce textual content.</a:t>
            </a:r>
            <a:endParaRPr lang="en-US" sz="2200" dirty="0"/>
          </a:p>
          <a:p>
            <a:pPr indent="0" marL="0">
              <a:buNone/>
            </a:pPr>
            <a:endParaRPr lang="en-US" sz="2200" dirty="0"/>
          </a:p>
          <a:p>
            <a:pPr indent="0" marL="0">
              <a:buNone/>
            </a:pPr>
            <a:r>
              <a:rPr lang="en-US" sz="2200" dirty="0">
                <a:solidFill>
                  <a:srgbClr val="000000"/>
                </a:solidFill>
              </a:rPr>
              <a:t>Step 4: Outline the Structure  </a:t>
            </a:r>
            <a:endParaRPr lang="en-US" sz="2200" dirty="0"/>
          </a:p>
          <a:p>
            <a:pPr indent="0" marL="0">
              <a:buNone/>
            </a:pPr>
            <a:r>
              <a:rPr lang="en-US" sz="2200" dirty="0">
                <a:solidFill>
                  <a:srgbClr val="000000"/>
                </a:solidFill>
              </a:rPr>
              <a:t>Organize key points into a logical slide sequence, including headings and subheadings.</a:t>
            </a:r>
            <a:endParaRPr lang="en-US" sz="2200" dirty="0"/>
          </a:p>
          <a:p>
            <a:pPr indent="0" marL="0">
              <a:buNone/>
            </a:pPr>
            <a:endParaRPr lang="en-US" sz="2200" dirty="0"/>
          </a:p>
          <a:p>
            <a:pPr indent="0" marL="0">
              <a:buNone/>
            </a:pPr>
            <a:r>
              <a:rPr lang="en-US" sz="2200" dirty="0">
                <a:solidFill>
                  <a:srgbClr val="000000"/>
                </a:solidFill>
              </a:rPr>
              <a:t>Step 5: Create PowerPoint Slides  </a:t>
            </a:r>
            <a:endParaRPr lang="en-US" sz="2200" dirty="0"/>
          </a:p>
          <a:p>
            <a:pPr indent="0" marL="0">
              <a:buNone/>
            </a:pPr>
            <a:r>
              <a:rPr lang="en-US" sz="2200" dirty="0">
                <a:solidFill>
                  <a:srgbClr val="000000"/>
                </a:solidFill>
              </a:rPr>
              <a:t>Insert images, text, and optionally embed video clips. Use bullet points for clarity.</a:t>
            </a:r>
            <a:endParaRPr lang="en-US" sz="2200" dirty="0"/>
          </a:p>
          <a:p>
            <a:pPr indent="0" marL="0">
              <a:buNone/>
            </a:pPr>
            <a:endParaRPr lang="en-US" sz="2200" dirty="0"/>
          </a:p>
          <a:p>
            <a:pPr indent="0" marL="0">
              <a:buNone/>
            </a:pPr>
            <a:r>
              <a:rPr lang="en-US" sz="2200" dirty="0">
                <a:solidFill>
                  <a:srgbClr val="000000"/>
                </a:solidFill>
              </a:rPr>
              <a:t>Step 6: Add Notes and Annotations  </a:t>
            </a:r>
            <a:endParaRPr lang="en-US" sz="2200" dirty="0"/>
          </a:p>
          <a:p>
            <a:pPr indent="0" marL="0">
              <a:buNone/>
            </a:pPr>
            <a:r>
              <a:rPr lang="en-US" sz="2200" dirty="0">
                <a:solidFill>
                  <a:srgbClr val="000000"/>
                </a:solidFill>
              </a:rPr>
              <a:t>Include speaker notes or additional explanations to complement slide content.</a:t>
            </a:r>
            <a:endParaRPr lang="en-US" sz="2200" dirty="0"/>
          </a:p>
          <a:p>
            <a:pPr indent="0" marL="0">
              <a:buNone/>
            </a:pPr>
            <a:endParaRPr lang="en-US" sz="2200" dirty="0"/>
          </a:p>
          <a:p>
            <a:pPr indent="0" marL="0">
              <a:buNone/>
            </a:pPr>
            <a:r>
              <a:rPr lang="en-US" sz="2200" dirty="0">
                <a:solidFill>
                  <a:srgbClr val="000000"/>
                </a:solidFill>
              </a:rPr>
              <a:t>Step 7: Review and Refine  </a:t>
            </a:r>
            <a:endParaRPr lang="en-US" sz="2200" dirty="0"/>
          </a:p>
          <a:p>
            <a:pPr indent="0" marL="0">
              <a:buNone/>
            </a:pPr>
            <a:r>
              <a:rPr lang="en-US" sz="2200" dirty="0">
                <a:solidFill>
                  <a:srgbClr val="000000"/>
                </a:solidFill>
              </a:rPr>
              <a:t>Ensure flow, clarity, and alignment with the original video’s intent.</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6. Examples</a:t>
            </a:r>
            <a:endParaRPr lang="en-US" sz="2200" dirty="0"/>
          </a:p>
          <a:p>
            <a:pPr indent="0" marL="0">
              <a:buNone/>
            </a:pPr>
            <a:endParaRPr lang="en-US" sz="2200" dirty="0"/>
          </a:p>
          <a:p>
            <a:pPr indent="0" marL="0">
              <a:buNone/>
            </a:pPr>
            <a:r>
              <a:rPr lang="en-US" sz="2200" dirty="0">
                <a:solidFill>
                  <a:srgbClr val="000000"/>
                </a:solidFill>
              </a:rPr>
              <a:t>Example 1: Educational Tutorial Video</a:t>
            </a:r>
            <a:endParaRPr lang="en-US" sz="2200" dirty="0"/>
          </a:p>
          <a:p>
            <a:pPr indent="0" marL="0">
              <a:buNone/>
            </a:pPr>
            <a:endParaRPr lang="en-US" sz="2200" dirty="0"/>
          </a:p>
          <a:p>
            <a:pPr indent="0" marL="0">
              <a:buNone/>
            </a:pPr>
            <a:r>
              <a:rPr lang="en-US" sz="2200" dirty="0">
                <a:solidFill>
                  <a:srgbClr val="000000"/>
                </a:solidFill>
              </a:rPr>
              <a:t>- Key Concept Slide: Display extracted frame of a pivotal step.  </a:t>
            </a:r>
            <a:endParaRPr lang="en-US" sz="2200" dirty="0"/>
          </a:p>
          <a:p>
            <a:pPr indent="0" marL="0">
              <a:buNone/>
            </a:pPr>
            <a:r>
              <a:rPr lang="en-US" sz="2200" dirty="0">
                <a:solidFill>
                  <a:srgbClr val="000000"/>
                </a:solidFill>
              </a:rPr>
              <a:t>- Bullet Point Slide: Outline procedures or instructions spoken in the video.  </a:t>
            </a:r>
            <a:endParaRPr lang="en-US" sz="2200" dirty="0"/>
          </a:p>
          <a:p>
            <a:pPr indent="0" marL="0">
              <a:buNone/>
            </a:pPr>
            <a:r>
              <a:rPr lang="en-US" sz="2200" dirty="0">
                <a:solidFill>
                  <a:srgbClr val="000000"/>
                </a:solidFill>
              </a:rPr>
              <a:t>- Embedded Clip Slide: Insert a 30-second highlight segment.</a:t>
            </a:r>
            <a:endParaRPr lang="en-US" sz="2200" dirty="0"/>
          </a:p>
          <a:p>
            <a:pPr indent="0" marL="0">
              <a:buNone/>
            </a:pPr>
            <a:endParaRPr lang="en-US" sz="2200" dirty="0"/>
          </a:p>
          <a:p>
            <a:pPr indent="0" marL="0">
              <a:buNone/>
            </a:pPr>
            <a:r>
              <a:rPr lang="en-US" sz="2200" dirty="0">
                <a:solidFill>
                  <a:srgbClr val="000000"/>
                </a:solidFill>
              </a:rPr>
              <a:t>Example 2: Marketing/Product Demo Video</a:t>
            </a:r>
            <a:endParaRPr lang="en-US" sz="2200" dirty="0"/>
          </a:p>
          <a:p>
            <a:pPr indent="0" marL="0">
              <a:buNone/>
            </a:pPr>
            <a:endParaRPr lang="en-US" sz="2200" dirty="0"/>
          </a:p>
          <a:p>
            <a:pPr indent="0" marL="0">
              <a:buNone/>
            </a:pPr>
            <a:r>
              <a:rPr lang="en-US" sz="2200" dirty="0">
                <a:solidFill>
                  <a:srgbClr val="000000"/>
                </a:solidFill>
              </a:rPr>
              <a:t>- Title Slide: Brand logo and video title.  </a:t>
            </a:r>
            <a:endParaRPr lang="en-US" sz="2200" dirty="0"/>
          </a:p>
          <a:p>
            <a:pPr indent="0" marL="0">
              <a:buNone/>
            </a:pPr>
            <a:r>
              <a:rPr lang="en-US" sz="2200" dirty="0">
                <a:solidFill>
                  <a:srgbClr val="000000"/>
                </a:solidFill>
              </a:rPr>
              <a:t>- Features Slide: Screenshot from the product demo with bullet summarizing benefits.  </a:t>
            </a:r>
            <a:endParaRPr lang="en-US" sz="2200" dirty="0"/>
          </a:p>
          <a:p>
            <a:pPr indent="0" marL="0">
              <a:buNone/>
            </a:pPr>
            <a:r>
              <a:rPr lang="en-US" sz="2200" dirty="0">
                <a:solidFill>
                  <a:srgbClr val="000000"/>
                </a:solidFill>
              </a:rPr>
              <a:t>- Call to Action Slide: Extract quotes or on-screen text emphasizing customer benefits.</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7. Advantages of Video-to-PowerPoint Conversion</a:t>
            </a:r>
            <a:endParaRPr lang="en-US" sz="2200" dirty="0"/>
          </a:p>
          <a:p>
            <a:pPr indent="0" marL="0">
              <a:buNone/>
            </a:pPr>
            <a:endParaRPr lang="en-US" sz="2200" dirty="0"/>
          </a:p>
          <a:p>
            <a:pPr indent="0" marL="0">
              <a:buNone/>
            </a:pPr>
            <a:r>
              <a:rPr lang="en-US" sz="2200" dirty="0">
                <a:solidFill>
                  <a:srgbClr val="000000"/>
                </a:solidFill>
              </a:rPr>
              <a:t>- Facilitates content review without requiring continuous video playback.  </a:t>
            </a:r>
            <a:endParaRPr lang="en-US" sz="2200" dirty="0"/>
          </a:p>
          <a:p>
            <a:pPr indent="0" marL="0">
              <a:buNone/>
            </a:pPr>
            <a:r>
              <a:rPr lang="en-US" sz="2200" dirty="0">
                <a:solidFill>
                  <a:srgbClr val="000000"/>
                </a:solidFill>
              </a:rPr>
              <a:t>- Enables audience interaction through deliberate pacing of information.  </a:t>
            </a:r>
            <a:endParaRPr lang="en-US" sz="2200" dirty="0"/>
          </a:p>
          <a:p>
            <a:pPr indent="0" marL="0">
              <a:buNone/>
            </a:pPr>
            <a:r>
              <a:rPr lang="en-US" sz="2200" dirty="0">
                <a:solidFill>
                  <a:srgbClr val="000000"/>
                </a:solidFill>
              </a:rPr>
              <a:t>- Supports offline access and easier distribution.  </a:t>
            </a:r>
            <a:endParaRPr lang="en-US" sz="2200" dirty="0"/>
          </a:p>
          <a:p>
            <a:pPr indent="0" marL="0">
              <a:buNone/>
            </a:pPr>
            <a:r>
              <a:rPr lang="en-US" sz="2200" dirty="0">
                <a:solidFill>
                  <a:srgbClr val="000000"/>
                </a:solidFill>
              </a:rPr>
              <a:t>- Allows annotation, highlighting, and restructuring specific points.  </a:t>
            </a:r>
            <a:endParaRPr lang="en-US" sz="2200" dirty="0"/>
          </a:p>
          <a:p>
            <a:pPr indent="0" marL="0">
              <a:buNone/>
            </a:pPr>
            <a:r>
              <a:rPr lang="en-US" sz="2200" dirty="0">
                <a:solidFill>
                  <a:srgbClr val="000000"/>
                </a:solidFill>
              </a:rPr>
              <a:t>- Compatible with conference and classroom environments favoring slide shows.</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8. Disadvantages and Limitations</a:t>
            </a:r>
            <a:endParaRPr lang="en-US" sz="2200" dirty="0"/>
          </a:p>
          <a:p>
            <a:pPr indent="0" marL="0">
              <a:buNone/>
            </a:pPr>
            <a:endParaRPr lang="en-US" sz="2200" dirty="0"/>
          </a:p>
          <a:p>
            <a:pPr indent="0" marL="0">
              <a:buNone/>
            </a:pPr>
            <a:r>
              <a:rPr lang="en-US" sz="2200" dirty="0">
                <a:solidFill>
                  <a:srgbClr val="000000"/>
                </a:solidFill>
              </a:rPr>
              <a:t>- Loss of dynamic visual and auditory effects reduces engagement.  </a:t>
            </a:r>
            <a:endParaRPr lang="en-US" sz="2200" dirty="0"/>
          </a:p>
          <a:p>
            <a:pPr indent="0" marL="0">
              <a:buNone/>
            </a:pPr>
            <a:r>
              <a:rPr lang="en-US" sz="2200" dirty="0">
                <a:solidFill>
                  <a:srgbClr val="000000"/>
                </a:solidFill>
              </a:rPr>
              <a:t>- Potential oversimplification of complex video narratives.  </a:t>
            </a:r>
            <a:endParaRPr lang="en-US" sz="2200" dirty="0"/>
          </a:p>
          <a:p>
            <a:pPr indent="0" marL="0">
              <a:buNone/>
            </a:pPr>
            <a:r>
              <a:rPr lang="en-US" sz="2200" dirty="0">
                <a:solidFill>
                  <a:srgbClr val="000000"/>
                </a:solidFill>
              </a:rPr>
              <a:t>- Time-consuming for long or detailed videos.  </a:t>
            </a:r>
            <a:endParaRPr lang="en-US" sz="2200" dirty="0"/>
          </a:p>
          <a:p>
            <a:pPr indent="0" marL="0">
              <a:buNone/>
            </a:pPr>
            <a:r>
              <a:rPr lang="en-US" sz="2200" dirty="0">
                <a:solidFill>
                  <a:srgbClr val="000000"/>
                </a:solidFill>
              </a:rPr>
              <a:t>- Quality of transcription or image extraction depends on source video clarity.  </a:t>
            </a:r>
            <a:endParaRPr lang="en-US" sz="2200" dirty="0"/>
          </a:p>
          <a:p>
            <a:pPr indent="0" marL="0">
              <a:buNone/>
            </a:pPr>
            <a:r>
              <a:rPr lang="en-US" sz="2200" dirty="0">
                <a:solidFill>
                  <a:srgbClr val="000000"/>
                </a:solidFill>
              </a:rPr>
              <a:t>- Possible copyright considerations when distributing converted content.</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9. Applications</a:t>
            </a:r>
            <a:endParaRPr lang="en-US" sz="2200" dirty="0"/>
          </a:p>
          <a:p>
            <a:pPr indent="0" marL="0">
              <a:buNone/>
            </a:pPr>
            <a:endParaRPr lang="en-US" sz="2200" dirty="0"/>
          </a:p>
          <a:p>
            <a:pPr indent="0" marL="0">
              <a:buNone/>
            </a:pPr>
            <a:r>
              <a:rPr lang="en-US" sz="2200" dirty="0">
                <a:solidFill>
                  <a:srgbClr val="000000"/>
                </a:solidFill>
              </a:rPr>
              <a:t>- Educational settings for lecture preparation and review.  </a:t>
            </a:r>
            <a:endParaRPr lang="en-US" sz="2200" dirty="0"/>
          </a:p>
          <a:p>
            <a:pPr indent="0" marL="0">
              <a:buNone/>
            </a:pPr>
            <a:r>
              <a:rPr lang="en-US" sz="2200" dirty="0">
                <a:solidFill>
                  <a:srgbClr val="000000"/>
                </a:solidFill>
              </a:rPr>
              <a:t>- Corporate training programs converting video tutorials to presentations.  </a:t>
            </a:r>
            <a:endParaRPr lang="en-US" sz="2200" dirty="0"/>
          </a:p>
          <a:p>
            <a:pPr indent="0" marL="0">
              <a:buNone/>
            </a:pPr>
            <a:r>
              <a:rPr lang="en-US" sz="2200" dirty="0">
                <a:solidFill>
                  <a:srgbClr val="000000"/>
                </a:solidFill>
              </a:rPr>
              <a:t>- Marketing and sales pitches repurposing video demos.  </a:t>
            </a:r>
            <a:endParaRPr lang="en-US" sz="2200" dirty="0"/>
          </a:p>
          <a:p>
            <a:pPr indent="0" marL="0">
              <a:buNone/>
            </a:pPr>
            <a:r>
              <a:rPr lang="en-US" sz="2200" dirty="0">
                <a:solidFill>
                  <a:srgbClr val="000000"/>
                </a:solidFill>
              </a:rPr>
              <a:t>- Scientific conferences to summarize visual research findings.  </a:t>
            </a:r>
            <a:endParaRPr lang="en-US" sz="2200" dirty="0"/>
          </a:p>
          <a:p>
            <a:pPr indent="0" marL="0">
              <a:buNone/>
            </a:pPr>
            <a:r>
              <a:rPr lang="en-US" sz="2200" dirty="0">
                <a:solidFill>
                  <a:srgbClr val="000000"/>
                </a:solidFill>
              </a:rPr>
              <a:t>- Legal or compliance departments archiving video testimonies into documents.</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10. Future Scope</a:t>
            </a:r>
            <a:endParaRPr lang="en-US" sz="2200" dirty="0"/>
          </a:p>
          <a:p>
            <a:pPr indent="0" marL="0">
              <a:buNone/>
            </a:pPr>
            <a:endParaRPr lang="en-US" sz="2200" dirty="0"/>
          </a:p>
          <a:p>
            <a:pPr indent="0" marL="0">
              <a:buNone/>
            </a:pPr>
            <a:r>
              <a:rPr lang="en-US" sz="2200" dirty="0">
                <a:solidFill>
                  <a:srgbClr val="000000"/>
                </a:solidFill>
              </a:rPr>
              <a:t>Advancements expected in this field include:</a:t>
            </a:r>
            <a:endParaRPr lang="en-US" sz="2200" dirty="0"/>
          </a:p>
          <a:p>
            <a:pPr indent="0" marL="0">
              <a:buNone/>
            </a:pPr>
            <a:endParaRPr lang="en-US" sz="2200" dirty="0"/>
          </a:p>
          <a:p>
            <a:pPr indent="0" marL="0">
              <a:buNone/>
            </a:pPr>
            <a:r>
              <a:rPr lang="en-US" sz="2200" dirty="0">
                <a:solidFill>
                  <a:srgbClr val="000000"/>
                </a:solidFill>
              </a:rPr>
              <a:t>- AI-driven automated video summarization directly into presentation formats.  </a:t>
            </a:r>
            <a:endParaRPr lang="en-US" sz="2200" dirty="0"/>
          </a:p>
          <a:p>
            <a:pPr indent="0" marL="0">
              <a:buNone/>
            </a:pPr>
            <a:r>
              <a:rPr lang="en-US" sz="2200" dirty="0">
                <a:solidFill>
                  <a:srgbClr val="000000"/>
                </a:solidFill>
              </a:rPr>
              <a:t>- Improved speech recognition with multilingual support.  </a:t>
            </a:r>
            <a:endParaRPr lang="en-US" sz="2200" dirty="0"/>
          </a:p>
          <a:p>
            <a:pPr indent="0" marL="0">
              <a:buNone/>
            </a:pPr>
            <a:r>
              <a:rPr lang="en-US" sz="2200" dirty="0">
                <a:solidFill>
                  <a:srgbClr val="000000"/>
                </a:solidFill>
              </a:rPr>
              <a:t>- Enhanced image recognition to categorize and label visual content intelligently.  </a:t>
            </a:r>
            <a:endParaRPr lang="en-US" sz="2200" dirty="0"/>
          </a:p>
          <a:p>
            <a:pPr indent="0" marL="0">
              <a:buNone/>
            </a:pPr>
            <a:r>
              <a:rPr lang="en-US" sz="2200" dirty="0">
                <a:solidFill>
                  <a:srgbClr val="000000"/>
                </a:solidFill>
              </a:rPr>
              <a:t>- Interactive slide decks integrating partial video segments adaptively.  </a:t>
            </a:r>
            <a:endParaRPr lang="en-US" sz="2200" dirty="0"/>
          </a:p>
          <a:p>
            <a:pPr indent="0" marL="0">
              <a:buNone/>
            </a:pPr>
            <a:r>
              <a:rPr lang="en-US" sz="2200" dirty="0">
                <a:solidFill>
                  <a:srgbClr val="000000"/>
                </a:solidFill>
              </a:rPr>
              <a:t>- Cloud-based seamless integration between video hosting services and presentation platforms.</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11. Conclusion</a:t>
            </a:r>
            <a:endParaRPr lang="en-US" sz="2200" dirty="0"/>
          </a:p>
          <a:p>
            <a:pPr indent="0" marL="0">
              <a:buNone/>
            </a:pPr>
            <a:endParaRPr lang="en-US" sz="2200" dirty="0"/>
          </a:p>
          <a:p>
            <a:pPr indent="0" marL="0">
              <a:buNone/>
            </a:pPr>
            <a:r>
              <a:rPr lang="en-US" sz="2200" dirty="0">
                <a:solidFill>
                  <a:srgbClr val="000000"/>
                </a:solidFill>
              </a:rPr>
              <a:t>Converting video content into PowerPoint presentations is a valuable process for tailoring multimedia information into structured and accessible formats. By leveraging various extraction and transcription techniques, one can effectively repurpose videos to suit diverse communication needs. While challenges such as loss of interactivity exist, the advantages in accessibility and adaptability make video-to-PowerPoint conversion an essential skill in modern content management. Emerging technologies continue to simplify this process, promising even more integrated multimedia presentation experiences in the future.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2026-07-02T22:18:17Z</dcterms:created>
  <dcterms:modified xsi:type="dcterms:W3CDTF">2026-07-02T22:18:17Z</dcterms:modified>
</cp:coreProperties>
</file>