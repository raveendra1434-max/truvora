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0"/>
          </a:xfrm>
          <a:prstGeom prst="line">
            <a:avLst/>
          </a:prstGeom>
          <a:noFill/>
          <a:ln w="25400">
            <a:solidFill>
              <a:srgbClr val="1565C0"/>
            </a:solidFill>
            <a:prstDash val="solid"/>
          </a:ln>
        </p:spPr>
      </p:sp>
      <p:sp>
        <p:nvSpPr>
          <p:cNvPr id="3" name="Shape 1"/>
          <p:cNvSpPr/>
          <p:nvPr/>
        </p:nvSpPr>
        <p:spPr>
          <a:xfrm>
            <a:off x="0" y="6537960"/>
            <a:ext cx="12188952" cy="0"/>
          </a:xfrm>
          <a:prstGeom prst="line">
            <a:avLst/>
          </a:prstGeom>
          <a:noFill/>
          <a:ln w="12700">
            <a:solidFill>
              <a:srgbClr val="D9D9D9"/>
            </a:solidFill>
            <a:prstDash val="solid"/>
          </a:ln>
        </p:spPr>
      </p:sp>
      <p:sp>
        <p:nvSpPr>
          <p:cNvPr id="4" name="Text 2"/>
          <p:cNvSpPr/>
          <p:nvPr/>
        </p:nvSpPr>
        <p:spPr>
          <a:xfrm>
            <a:off x="411480" y="6565392"/>
            <a:ext cx="4572000" cy="182880"/>
          </a:xfrm>
          <a:prstGeom prst="rect">
            <a:avLst/>
          </a:prstGeom>
          <a:noFill/>
          <a:ln/>
        </p:spPr>
        <p:txBody>
          <a:bodyPr wrap="square" rtlCol="0" anchor="ctr"/>
          <a:lstStyle/>
          <a:p>
            <a:pPr indent="0" marL="0">
              <a:buNone/>
            </a:pPr>
            <a:r>
              <a:rPr lang="en-US" sz="900" i="1" dirty="0">
                <a:solidFill>
                  <a:srgbClr val="808080"/>
                </a:solidFill>
                <a:latin typeface="Aptos" pitchFamily="34" charset="0"/>
                <a:ea typeface="Aptos" pitchFamily="34" charset="-122"/>
                <a:cs typeface="Aptos" pitchFamily="34" charset="-120"/>
              </a:rPr>
              <a:t>Generated by Truvora Global AI</a:t>
            </a:r>
            <a:endParaRPr lang="en-US" sz="900" dirty="0"/>
          </a:p>
        </p:txBody>
      </p:sp>
      <p:sp>
        <p:nvSpPr>
          <p:cNvPr id="5" name="Text 3"/>
          <p:cNvSpPr/>
          <p:nvPr/>
        </p:nvSpPr>
        <p:spPr>
          <a:xfrm>
            <a:off x="11064240" y="6565392"/>
            <a:ext cx="640080" cy="182880"/>
          </a:xfrm>
          <a:prstGeom prst="rect">
            <a:avLst/>
          </a:prstGeom>
          <a:noFill/>
          <a:ln/>
        </p:spPr>
        <p:txBody>
          <a:bodyPr wrap="square" rtlCol="0" anchor="ctr"/>
          <a:lstStyle/>
          <a:p>
            <a:pPr algn="r" indent="0" marL="0">
              <a:buNone/>
            </a:pPr>
            <a:r>
              <a:rPr lang="en-US" sz="900" dirty="0">
                <a:solidFill>
                  <a:srgbClr val="808080"/>
                </a:solidFill>
                <a:latin typeface="Aptos" pitchFamily="34" charset="0"/>
                <a:ea typeface="Aptos" pitchFamily="34" charset="-122"/>
                <a:cs typeface="Aptos" pitchFamily="34" charset="-120"/>
              </a:rPr>
              <a:t>1 / 5</a:t>
            </a:r>
            <a:endParaRPr lang="en-US" sz="900" dirty="0"/>
          </a:p>
        </p:txBody>
      </p:sp>
      <p:sp>
        <p:nvSpPr>
          <p:cNvPr id="6" name="Text 4"/>
          <p:cNvSpPr/>
          <p:nvPr/>
        </p:nvSpPr>
        <p:spPr>
          <a:xfrm>
            <a:off x="502920" y="411480"/>
            <a:ext cx="7315200" cy="411480"/>
          </a:xfrm>
          <a:prstGeom prst="rect">
            <a:avLst/>
          </a:prstGeom>
          <a:noFill/>
          <a:ln/>
        </p:spPr>
        <p:txBody>
          <a:bodyPr wrap="square" rtlCol="0" anchor="ctr"/>
          <a:lstStyle/>
          <a:p>
            <a:pPr indent="0" marL="0">
              <a:buNone/>
            </a:pPr>
            <a:r>
              <a:rPr lang="en-US" sz="2800" b="1" dirty="0">
                <a:solidFill>
                  <a:srgbClr val="1565C0"/>
                </a:solidFill>
                <a:latin typeface="Aptos" pitchFamily="34" charset="0"/>
                <a:ea typeface="Aptos" pitchFamily="34" charset="-122"/>
                <a:cs typeface="Aptos" pitchFamily="34" charset="-120"/>
              </a:rPr>
              <a:t>TRUVORA GLOBAL AI</a:t>
            </a:r>
            <a:endParaRPr lang="en-US" sz="2800" dirty="0"/>
          </a:p>
        </p:txBody>
      </p:sp>
      <p:sp>
        <p:nvSpPr>
          <p:cNvPr id="7" name="Text 5"/>
          <p:cNvSpPr/>
          <p:nvPr/>
        </p:nvSpPr>
        <p:spPr>
          <a:xfrm>
            <a:off x="502920" y="822960"/>
            <a:ext cx="6400800" cy="274320"/>
          </a:xfrm>
          <a:prstGeom prst="rect">
            <a:avLst/>
          </a:prstGeom>
          <a:noFill/>
          <a:ln/>
        </p:spPr>
        <p:txBody>
          <a:bodyPr wrap="square" rtlCol="0" anchor="ctr"/>
          <a:lstStyle/>
          <a:p>
            <a:pPr indent="0" marL="0">
              <a:buNone/>
            </a:pPr>
            <a:r>
              <a:rPr lang="en-US" sz="1400" i="1" dirty="0">
                <a:solidFill>
                  <a:srgbClr val="808080"/>
                </a:solidFill>
                <a:latin typeface="Aptos" pitchFamily="34" charset="0"/>
                <a:ea typeface="Aptos" pitchFamily="34" charset="-122"/>
                <a:cs typeface="Aptos" pitchFamily="34" charset="-120"/>
              </a:rPr>
              <a:t>Intelligence • Innovation • Trust</a:t>
            </a:r>
            <a:endParaRPr lang="en-US" sz="1400" dirty="0"/>
          </a:p>
        </p:txBody>
      </p:sp>
      <p:sp>
        <p:nvSpPr>
          <p:cNvPr id="8" name="Text 6"/>
          <p:cNvSpPr/>
          <p:nvPr/>
        </p:nvSpPr>
        <p:spPr>
          <a:xfrm>
            <a:off x="502920" y="1280160"/>
            <a:ext cx="4572000" cy="274320"/>
          </a:xfrm>
          <a:prstGeom prst="rect">
            <a:avLst/>
          </a:prstGeom>
          <a:noFill/>
          <a:ln/>
        </p:spPr>
        <p:txBody>
          <a:bodyPr wrap="square" rtlCol="0" anchor="ctr"/>
          <a:lstStyle/>
          <a:p>
            <a:pPr indent="0" marL="0">
              <a:buNone/>
            </a:pPr>
            <a:r>
              <a:rPr lang="en-US" sz="1200" dirty="0">
                <a:solidFill>
                  <a:srgbClr val="222222"/>
                </a:solidFill>
                <a:latin typeface="Aptos" pitchFamily="34" charset="0"/>
                <a:ea typeface="Aptos" pitchFamily="34" charset="-122"/>
                <a:cs typeface="Aptos" pitchFamily="34" charset="-120"/>
              </a:rPr>
              <a:t>Report ID: 1784857609695</a:t>
            </a:r>
            <a:endParaRPr lang="en-US" sz="1200" dirty="0"/>
          </a:p>
        </p:txBody>
      </p:sp>
      <p:sp>
        <p:nvSpPr>
          <p:cNvPr id="9" name="Text 7"/>
          <p:cNvSpPr/>
          <p:nvPr/>
        </p:nvSpPr>
        <p:spPr>
          <a:xfrm>
            <a:off x="502920" y="1828800"/>
            <a:ext cx="10515600" cy="640080"/>
          </a:xfrm>
          <a:prstGeom prst="rect">
            <a:avLst/>
          </a:prstGeom>
          <a:noFill/>
          <a:ln/>
        </p:spPr>
        <p:txBody>
          <a:bodyPr wrap="square" rtlCol="0" anchor="ctr"/>
          <a:lstStyle/>
          <a:p>
            <a:pPr indent="0" marL="0">
              <a:buNone/>
            </a:pPr>
            <a:r>
              <a:rPr lang="en-US" sz="2200" b="1" dirty="0">
                <a:solidFill>
                  <a:srgbClr val="222222"/>
                </a:solidFill>
                <a:latin typeface="Aptos" pitchFamily="34" charset="0"/>
                <a:ea typeface="Aptos" pitchFamily="34" charset="-122"/>
                <a:cs typeface="Aptos" pitchFamily="34" charset="-120"/>
              </a:rPr>
              <a:t>AI Analysis Report</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0"/>
          </a:xfrm>
          <a:prstGeom prst="line">
            <a:avLst/>
          </a:prstGeom>
          <a:noFill/>
          <a:ln w="25400">
            <a:solidFill>
              <a:srgbClr val="1565C0"/>
            </a:solidFill>
            <a:prstDash val="solid"/>
          </a:ln>
        </p:spPr>
      </p:sp>
      <p:sp>
        <p:nvSpPr>
          <p:cNvPr id="3" name="Shape 1"/>
          <p:cNvSpPr/>
          <p:nvPr/>
        </p:nvSpPr>
        <p:spPr>
          <a:xfrm>
            <a:off x="0" y="6537960"/>
            <a:ext cx="12188952" cy="0"/>
          </a:xfrm>
          <a:prstGeom prst="line">
            <a:avLst/>
          </a:prstGeom>
          <a:noFill/>
          <a:ln w="12700">
            <a:solidFill>
              <a:srgbClr val="D9D9D9"/>
            </a:solidFill>
            <a:prstDash val="solid"/>
          </a:ln>
        </p:spPr>
      </p:sp>
      <p:sp>
        <p:nvSpPr>
          <p:cNvPr id="4" name="Text 2"/>
          <p:cNvSpPr/>
          <p:nvPr/>
        </p:nvSpPr>
        <p:spPr>
          <a:xfrm>
            <a:off x="411480" y="6565392"/>
            <a:ext cx="4572000" cy="182880"/>
          </a:xfrm>
          <a:prstGeom prst="rect">
            <a:avLst/>
          </a:prstGeom>
          <a:noFill/>
          <a:ln/>
        </p:spPr>
        <p:txBody>
          <a:bodyPr wrap="square" rtlCol="0" anchor="ctr"/>
          <a:lstStyle/>
          <a:p>
            <a:pPr indent="0" marL="0">
              <a:buNone/>
            </a:pPr>
            <a:r>
              <a:rPr lang="en-US" sz="900" i="1" dirty="0">
                <a:solidFill>
                  <a:srgbClr val="808080"/>
                </a:solidFill>
                <a:latin typeface="Aptos" pitchFamily="34" charset="0"/>
                <a:ea typeface="Aptos" pitchFamily="34" charset="-122"/>
                <a:cs typeface="Aptos" pitchFamily="34" charset="-120"/>
              </a:rPr>
              <a:t>Generated by Truvora Global AI</a:t>
            </a:r>
            <a:endParaRPr lang="en-US" sz="900" dirty="0"/>
          </a:p>
        </p:txBody>
      </p:sp>
      <p:sp>
        <p:nvSpPr>
          <p:cNvPr id="5" name="Text 3"/>
          <p:cNvSpPr/>
          <p:nvPr/>
        </p:nvSpPr>
        <p:spPr>
          <a:xfrm>
            <a:off x="11064240" y="6565392"/>
            <a:ext cx="640080" cy="182880"/>
          </a:xfrm>
          <a:prstGeom prst="rect">
            <a:avLst/>
          </a:prstGeom>
          <a:noFill/>
          <a:ln/>
        </p:spPr>
        <p:txBody>
          <a:bodyPr wrap="square" rtlCol="0" anchor="ctr"/>
          <a:lstStyle/>
          <a:p>
            <a:pPr algn="r" indent="0" marL="0">
              <a:buNone/>
            </a:pPr>
            <a:r>
              <a:rPr lang="en-US" sz="900" dirty="0">
                <a:solidFill>
                  <a:srgbClr val="808080"/>
                </a:solidFill>
                <a:latin typeface="Aptos" pitchFamily="34" charset="0"/>
                <a:ea typeface="Aptos" pitchFamily="34" charset="-122"/>
                <a:cs typeface="Aptos" pitchFamily="34" charset="-120"/>
              </a:rPr>
              <a:t>2 / 5</a:t>
            </a:r>
            <a:endParaRPr lang="en-US" sz="900" dirty="0"/>
          </a:p>
        </p:txBody>
      </p:sp>
      <p:sp>
        <p:nvSpPr>
          <p:cNvPr id="6" name="Text 4"/>
          <p:cNvSpPr/>
          <p:nvPr/>
        </p:nvSpPr>
        <p:spPr>
          <a:xfrm>
            <a:off x="502920" y="411480"/>
            <a:ext cx="9144000" cy="365760"/>
          </a:xfrm>
          <a:prstGeom prst="rect">
            <a:avLst/>
          </a:prstGeom>
          <a:noFill/>
          <a:ln/>
        </p:spPr>
        <p:txBody>
          <a:bodyPr wrap="square" rtlCol="0" anchor="ctr"/>
          <a:lstStyle/>
          <a:p>
            <a:pPr indent="0" marL="0">
              <a:buNone/>
            </a:pPr>
            <a:r>
              <a:rPr lang="en-US" sz="2000" b="1" dirty="0">
                <a:solidFill>
                  <a:srgbClr val="1565C0"/>
                </a:solidFill>
                <a:latin typeface="Aptos" pitchFamily="34" charset="0"/>
                <a:ea typeface="Aptos" pitchFamily="34" charset="-122"/>
                <a:cs typeface="Aptos" pitchFamily="34" charset="-120"/>
              </a:rPr>
              <a:t>Executive Summary</a:t>
            </a:r>
            <a:endParaRPr lang="en-US" sz="2000" dirty="0"/>
          </a:p>
        </p:txBody>
      </p:sp>
      <p:sp>
        <p:nvSpPr>
          <p:cNvPr id="7" name="Text 5"/>
          <p:cNvSpPr/>
          <p:nvPr/>
        </p:nvSpPr>
        <p:spPr>
          <a:xfrm>
            <a:off x="502920" y="914400"/>
            <a:ext cx="10972800" cy="5212080"/>
          </a:xfrm>
          <a:prstGeom prst="rect">
            <a:avLst/>
          </a:prstGeom>
          <a:noFill/>
          <a:ln/>
        </p:spPr>
        <p:txBody>
          <a:bodyPr wrap="square" lIns="1016" tIns="1016" rIns="1016" bIns="1016" rtlCol="0" anchor="t"/>
          <a:lstStyle/>
          <a:p>
            <a:pPr indent="0" marL="0">
              <a:buNone/>
            </a:pPr>
            <a:r>
              <a:rPr lang="en-US" sz="1400" dirty="0">
                <a:solidFill>
                  <a:srgbClr val="222222"/>
                </a:solidFill>
                <a:latin typeface="Aptos" pitchFamily="34" charset="0"/>
                <a:ea typeface="Aptos" pitchFamily="34" charset="-122"/>
                <a:cs typeface="Aptos" pitchFamily="34" charset="-120"/>
              </a:rPr>
              <a:t>Here are the latest highlights in AI news:</a:t>
            </a:r>
            <a:endParaRPr lang="en-US" sz="1400" dirty="0"/>
          </a:p>
          <a:p>
            <a:pPr indent="0" marL="0">
              <a:buNone/>
            </a:pPr>
            <a:endParaRPr lang="en-US" sz="1400" dirty="0"/>
          </a:p>
          <a:p>
            <a:pPr indent="0" marL="0">
              <a:buNone/>
            </a:pPr>
            <a:r>
              <a:rPr lang="en-US" sz="1400" dirty="0">
                <a:solidFill>
                  <a:srgbClr val="222222"/>
                </a:solidFill>
                <a:latin typeface="Aptos" pitchFamily="34" charset="0"/>
                <a:ea typeface="Aptos" pitchFamily="34" charset="-122"/>
                <a:cs typeface="Aptos" pitchFamily="34" charset="-120"/>
              </a:rPr>
              <a:t>- AI is advancing rapidly in areas like machine learning, deep learning, and enterprise applications.  </a:t>
            </a:r>
            <a:endParaRPr lang="en-US" sz="1400" dirty="0"/>
          </a:p>
          <a:p>
            <a:pPr indent="0" marL="0">
              <a:buNone/>
            </a:pPr>
            <a:r>
              <a:rPr lang="en-US" sz="1400" dirty="0">
                <a:solidFill>
                  <a:srgbClr val="222222"/>
                </a:solidFill>
                <a:latin typeface="Aptos" pitchFamily="34" charset="0"/>
                <a:ea typeface="Aptos" pitchFamily="34" charset="-122"/>
                <a:cs typeface="Aptos" pitchFamily="34" charset="-120"/>
              </a:rPr>
              <a:t>- Ethical concerns and regulations around AI are gaining more attention globally.  </a:t>
            </a:r>
            <a:endParaRPr lang="en-US" sz="1400" dirty="0"/>
          </a:p>
          <a:p>
            <a:pPr indent="0" marL="0">
              <a:buNone/>
            </a:pPr>
            <a:r>
              <a:rPr lang="en-US" sz="1400" dirty="0">
                <a:solidFill>
                  <a:srgbClr val="222222"/>
                </a:solidFill>
                <a:latin typeface="Aptos" pitchFamily="34" charset="0"/>
                <a:ea typeface="Aptos" pitchFamily="34" charset="-122"/>
                <a:cs typeface="Aptos" pitchFamily="34" charset="-120"/>
              </a:rPr>
              <a:t>- New AI tools are being developed to assist in complex engineering tasks, such as jet engine design.  </a:t>
            </a:r>
            <a:endParaRPr lang="en-US" sz="1400" dirty="0"/>
          </a:p>
          <a:p>
            <a:pPr indent="0" marL="0">
              <a:buNone/>
            </a:pPr>
            <a:r>
              <a:rPr lang="en-US" sz="1400" dirty="0">
                <a:solidFill>
                  <a:srgbClr val="222222"/>
                </a:solidFill>
                <a:latin typeface="Aptos" pitchFamily="34" charset="0"/>
                <a:ea typeface="Aptos" pitchFamily="34" charset="-122"/>
                <a:cs typeface="Aptos" pitchFamily="34" charset="-120"/>
              </a:rPr>
              <a:t>- Major companies and startups continue to innovate and push AI technology forward.  </a:t>
            </a:r>
            <a:endParaRPr lang="en-US" sz="1400" dirty="0"/>
          </a:p>
          <a:p>
            <a:pPr indent="0" marL="0">
              <a:buNone/>
            </a:pPr>
            <a:endParaRPr lang="en-US" sz="1400" dirty="0"/>
          </a:p>
          <a:p>
            <a:pPr indent="0" marL="0">
              <a:buNone/>
            </a:pPr>
            <a:r>
              <a:rPr lang="en-US" sz="1400" dirty="0">
                <a:solidFill>
                  <a:srgbClr val="222222"/>
                </a:solidFill>
                <a:latin typeface="Aptos" pitchFamily="34" charset="0"/>
                <a:ea typeface="Aptos" pitchFamily="34" charset="-122"/>
                <a:cs typeface="Aptos" pitchFamily="34" charset="-120"/>
              </a:rPr>
              <a:t>📖 Explanation  </a:t>
            </a:r>
            <a:endParaRPr lang="en-US" sz="1400" dirty="0"/>
          </a:p>
          <a:p>
            <a:pPr indent="0" marL="0">
              <a:buNone/>
            </a:pPr>
            <a:r>
              <a:rPr lang="en-US" sz="1400" dirty="0">
                <a:solidFill>
                  <a:srgbClr val="222222"/>
                </a:solidFill>
                <a:latin typeface="Aptos" pitchFamily="34" charset="0"/>
                <a:ea typeface="Aptos" pitchFamily="34" charset="-122"/>
                <a:cs typeface="Aptos" pitchFamily="34" charset="-120"/>
              </a:rPr>
              <a:t>AI news covers breakthroughs in technology, business uses, ethical debates, and regulatory changes. For example, AI is now being tested as a co-pilot in engineering challenges, showing its growing role in tough technical fields. Meanwhile, discussions on AI ethics and governance are shaping how AI will be used responsibly. Leading news sources like Reuters, TechCrunch, and MIT News provide ongoing updates on these trends.  </a:t>
            </a:r>
            <a:endParaRPr lang="en-US" sz="1400" dirty="0"/>
          </a:p>
          <a:p>
            <a:pPr indent="0" marL="0">
              <a:buNone/>
            </a:pPr>
            <a:endParaRPr lang="en-US" sz="1400" dirty="0"/>
          </a:p>
          <a:p>
            <a:pPr indent="0" marL="0">
              <a:buNone/>
            </a:pPr>
            <a:r>
              <a:rPr lang="en-US" sz="1400" dirty="0">
                <a:solidFill>
                  <a:srgbClr val="222222"/>
                </a:solidFill>
                <a:latin typeface="Aptos" pitchFamily="34" charset="0"/>
                <a:ea typeface="Aptos" pitchFamily="34" charset="-122"/>
                <a:cs typeface="Aptos" pitchFamily="34" charset="-120"/>
              </a:rPr>
              <a:t>If you want, I can share specific recent articles or updates from these sources.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0"/>
          </a:xfrm>
          <a:prstGeom prst="line">
            <a:avLst/>
          </a:prstGeom>
          <a:noFill/>
          <a:ln w="25400">
            <a:solidFill>
              <a:srgbClr val="1565C0"/>
            </a:solidFill>
            <a:prstDash val="solid"/>
          </a:ln>
        </p:spPr>
      </p:sp>
      <p:sp>
        <p:nvSpPr>
          <p:cNvPr id="3" name="Shape 1"/>
          <p:cNvSpPr/>
          <p:nvPr/>
        </p:nvSpPr>
        <p:spPr>
          <a:xfrm>
            <a:off x="0" y="6537960"/>
            <a:ext cx="12188952" cy="0"/>
          </a:xfrm>
          <a:prstGeom prst="line">
            <a:avLst/>
          </a:prstGeom>
          <a:noFill/>
          <a:ln w="12700">
            <a:solidFill>
              <a:srgbClr val="D9D9D9"/>
            </a:solidFill>
            <a:prstDash val="solid"/>
          </a:ln>
        </p:spPr>
      </p:sp>
      <p:sp>
        <p:nvSpPr>
          <p:cNvPr id="4" name="Text 2"/>
          <p:cNvSpPr/>
          <p:nvPr/>
        </p:nvSpPr>
        <p:spPr>
          <a:xfrm>
            <a:off x="411480" y="6565392"/>
            <a:ext cx="4572000" cy="182880"/>
          </a:xfrm>
          <a:prstGeom prst="rect">
            <a:avLst/>
          </a:prstGeom>
          <a:noFill/>
          <a:ln/>
        </p:spPr>
        <p:txBody>
          <a:bodyPr wrap="square" rtlCol="0" anchor="ctr"/>
          <a:lstStyle/>
          <a:p>
            <a:pPr indent="0" marL="0">
              <a:buNone/>
            </a:pPr>
            <a:r>
              <a:rPr lang="en-US" sz="900" i="1" dirty="0">
                <a:solidFill>
                  <a:srgbClr val="808080"/>
                </a:solidFill>
                <a:latin typeface="Aptos" pitchFamily="34" charset="0"/>
                <a:ea typeface="Aptos" pitchFamily="34" charset="-122"/>
                <a:cs typeface="Aptos" pitchFamily="34" charset="-120"/>
              </a:rPr>
              <a:t>Generated by Truvora Global AI</a:t>
            </a:r>
            <a:endParaRPr lang="en-US" sz="900" dirty="0"/>
          </a:p>
        </p:txBody>
      </p:sp>
      <p:sp>
        <p:nvSpPr>
          <p:cNvPr id="5" name="Text 3"/>
          <p:cNvSpPr/>
          <p:nvPr/>
        </p:nvSpPr>
        <p:spPr>
          <a:xfrm>
            <a:off x="11064240" y="6565392"/>
            <a:ext cx="640080" cy="182880"/>
          </a:xfrm>
          <a:prstGeom prst="rect">
            <a:avLst/>
          </a:prstGeom>
          <a:noFill/>
          <a:ln/>
        </p:spPr>
        <p:txBody>
          <a:bodyPr wrap="square" rtlCol="0" anchor="ctr"/>
          <a:lstStyle/>
          <a:p>
            <a:pPr algn="r" indent="0" marL="0">
              <a:buNone/>
            </a:pPr>
            <a:r>
              <a:rPr lang="en-US" sz="900" dirty="0">
                <a:solidFill>
                  <a:srgbClr val="808080"/>
                </a:solidFill>
                <a:latin typeface="Aptos" pitchFamily="34" charset="0"/>
                <a:ea typeface="Aptos" pitchFamily="34" charset="-122"/>
                <a:cs typeface="Aptos" pitchFamily="34" charset="-120"/>
              </a:rPr>
              <a:t>3 / 5</a:t>
            </a:r>
            <a:endParaRPr lang="en-US" sz="900" dirty="0"/>
          </a:p>
        </p:txBody>
      </p:sp>
      <p:sp>
        <p:nvSpPr>
          <p:cNvPr id="6" name="Text 4"/>
          <p:cNvSpPr/>
          <p:nvPr/>
        </p:nvSpPr>
        <p:spPr>
          <a:xfrm>
            <a:off x="502920" y="411480"/>
            <a:ext cx="9144000" cy="365760"/>
          </a:xfrm>
          <a:prstGeom prst="rect">
            <a:avLst/>
          </a:prstGeom>
          <a:noFill/>
          <a:ln/>
        </p:spPr>
        <p:txBody>
          <a:bodyPr wrap="square" rtlCol="0" anchor="ctr"/>
          <a:lstStyle/>
          <a:p>
            <a:pPr indent="0" marL="0">
              <a:buNone/>
            </a:pPr>
            <a:r>
              <a:rPr lang="en-US" sz="2000" b="1" dirty="0">
                <a:solidFill>
                  <a:srgbClr val="1565C0"/>
                </a:solidFill>
                <a:latin typeface="Aptos" pitchFamily="34" charset="0"/>
                <a:ea typeface="Aptos" pitchFamily="34" charset="-122"/>
                <a:cs typeface="Aptos" pitchFamily="34" charset="-120"/>
              </a:rPr>
              <a:t>Detailed Analysis</a:t>
            </a:r>
            <a:endParaRPr lang="en-US" sz="2000" dirty="0"/>
          </a:p>
        </p:txBody>
      </p:sp>
      <p:sp>
        <p:nvSpPr>
          <p:cNvPr id="7" name="Text 5"/>
          <p:cNvSpPr/>
          <p:nvPr/>
        </p:nvSpPr>
        <p:spPr>
          <a:xfrm>
            <a:off x="502920" y="914400"/>
            <a:ext cx="10972800" cy="5212080"/>
          </a:xfrm>
          <a:prstGeom prst="rect">
            <a:avLst/>
          </a:prstGeom>
          <a:noFill/>
          <a:ln/>
        </p:spPr>
        <p:txBody>
          <a:bodyPr wrap="square" lIns="1016" tIns="1016" rIns="1016" bIns="1016" rtlCol="0" anchor="t"/>
          <a:lstStyle/>
          <a:p>
            <a:pPr indent="0" marL="0">
              <a:buNone/>
            </a:pPr>
            <a:r>
              <a:rPr lang="en-US" sz="1400" dirty="0">
                <a:solidFill>
                  <a:srgbClr val="222222"/>
                </a:solidFill>
                <a:latin typeface="Aptos" pitchFamily="34" charset="0"/>
                <a:ea typeface="Aptos" pitchFamily="34" charset="-122"/>
                <a:cs typeface="Aptos" pitchFamily="34" charset="-120"/>
              </a:rPr>
              <a:t>Here are the latest highlights in AI news:</a:t>
            </a:r>
            <a:endParaRPr lang="en-US" sz="1400" dirty="0"/>
          </a:p>
          <a:p>
            <a:pPr indent="0" marL="0">
              <a:buNone/>
            </a:pPr>
            <a:endParaRPr lang="en-US" sz="1400" dirty="0"/>
          </a:p>
          <a:p>
            <a:pPr indent="0" marL="0">
              <a:buNone/>
            </a:pPr>
            <a:r>
              <a:rPr lang="en-US" sz="1400" dirty="0">
                <a:solidFill>
                  <a:srgbClr val="222222"/>
                </a:solidFill>
                <a:latin typeface="Aptos" pitchFamily="34" charset="0"/>
                <a:ea typeface="Aptos" pitchFamily="34" charset="-122"/>
                <a:cs typeface="Aptos" pitchFamily="34" charset="-120"/>
              </a:rPr>
              <a:t>- AI is advancing rapidly in areas like machine learning, deep learning, and enterprise applications.  </a:t>
            </a:r>
            <a:endParaRPr lang="en-US" sz="1400" dirty="0"/>
          </a:p>
          <a:p>
            <a:pPr indent="0" marL="0">
              <a:buNone/>
            </a:pPr>
            <a:r>
              <a:rPr lang="en-US" sz="1400" dirty="0">
                <a:solidFill>
                  <a:srgbClr val="222222"/>
                </a:solidFill>
                <a:latin typeface="Aptos" pitchFamily="34" charset="0"/>
                <a:ea typeface="Aptos" pitchFamily="34" charset="-122"/>
                <a:cs typeface="Aptos" pitchFamily="34" charset="-120"/>
              </a:rPr>
              <a:t>- Ethical concerns and regulations around AI are gaining more attention globally.  </a:t>
            </a:r>
            <a:endParaRPr lang="en-US" sz="1400" dirty="0"/>
          </a:p>
          <a:p>
            <a:pPr indent="0" marL="0">
              <a:buNone/>
            </a:pPr>
            <a:r>
              <a:rPr lang="en-US" sz="1400" dirty="0">
                <a:solidFill>
                  <a:srgbClr val="222222"/>
                </a:solidFill>
                <a:latin typeface="Aptos" pitchFamily="34" charset="0"/>
                <a:ea typeface="Aptos" pitchFamily="34" charset="-122"/>
                <a:cs typeface="Aptos" pitchFamily="34" charset="-120"/>
              </a:rPr>
              <a:t>- New AI tools are being developed to assist in complex engineering tasks, such as jet engine design.  </a:t>
            </a:r>
            <a:endParaRPr lang="en-US" sz="1400" dirty="0"/>
          </a:p>
          <a:p>
            <a:pPr indent="0" marL="0">
              <a:buNone/>
            </a:pPr>
            <a:r>
              <a:rPr lang="en-US" sz="1400" dirty="0">
                <a:solidFill>
                  <a:srgbClr val="222222"/>
                </a:solidFill>
                <a:latin typeface="Aptos" pitchFamily="34" charset="0"/>
                <a:ea typeface="Aptos" pitchFamily="34" charset="-122"/>
                <a:cs typeface="Aptos" pitchFamily="34" charset="-120"/>
              </a:rPr>
              <a:t>- Major companies and startups continue to innovate and push AI technology forward.  </a:t>
            </a:r>
            <a:endParaRPr lang="en-US" sz="1400" dirty="0"/>
          </a:p>
          <a:p>
            <a:pPr indent="0" marL="0">
              <a:buNone/>
            </a:pPr>
            <a:endParaRPr lang="en-US" sz="1400" dirty="0"/>
          </a:p>
          <a:p>
            <a:pPr indent="0" marL="0">
              <a:buNone/>
            </a:pPr>
            <a:r>
              <a:rPr lang="en-US" sz="1400" dirty="0">
                <a:solidFill>
                  <a:srgbClr val="222222"/>
                </a:solidFill>
                <a:latin typeface="Aptos" pitchFamily="34" charset="0"/>
                <a:ea typeface="Aptos" pitchFamily="34" charset="-122"/>
                <a:cs typeface="Aptos" pitchFamily="34" charset="-120"/>
              </a:rPr>
              <a:t>📖 Explanation  </a:t>
            </a:r>
            <a:endParaRPr lang="en-US" sz="1400" dirty="0"/>
          </a:p>
          <a:p>
            <a:pPr indent="0" marL="0">
              <a:buNone/>
            </a:pPr>
            <a:r>
              <a:rPr lang="en-US" sz="1400" dirty="0">
                <a:solidFill>
                  <a:srgbClr val="222222"/>
                </a:solidFill>
                <a:latin typeface="Aptos" pitchFamily="34" charset="0"/>
                <a:ea typeface="Aptos" pitchFamily="34" charset="-122"/>
                <a:cs typeface="Aptos" pitchFamily="34" charset="-120"/>
              </a:rPr>
              <a:t>AI news covers breakthroughs in technology, business uses, ethical debates, and regulatory changes. For example, AI is now being tested as a co-pilot in engineering challenges, showing its growing role in tough technical fields. Meanwhile, discussions on AI ethics and governance are shaping how AI will be used responsibly. Leading news sources like Reuters, TechCrunch, and MIT News provide ongoing updates on these trends.  </a:t>
            </a:r>
            <a:endParaRPr lang="en-US" sz="1400" dirty="0"/>
          </a:p>
          <a:p>
            <a:pPr indent="0" marL="0">
              <a:buNone/>
            </a:pPr>
            <a:endParaRPr lang="en-US" sz="1400" dirty="0"/>
          </a:p>
          <a:p>
            <a:pPr indent="0" marL="0">
              <a:buNone/>
            </a:pPr>
            <a:r>
              <a:rPr lang="en-US" sz="1400" dirty="0">
                <a:solidFill>
                  <a:srgbClr val="222222"/>
                </a:solidFill>
                <a:latin typeface="Aptos" pitchFamily="34" charset="0"/>
                <a:ea typeface="Aptos" pitchFamily="34" charset="-122"/>
                <a:cs typeface="Aptos" pitchFamily="34" charset="-120"/>
              </a:rPr>
              <a:t>If you want, I can share specific recent articles or updates from these sources.</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0"/>
          </a:xfrm>
          <a:prstGeom prst="line">
            <a:avLst/>
          </a:prstGeom>
          <a:noFill/>
          <a:ln w="25400">
            <a:solidFill>
              <a:srgbClr val="1565C0"/>
            </a:solidFill>
            <a:prstDash val="solid"/>
          </a:ln>
        </p:spPr>
      </p:sp>
      <p:sp>
        <p:nvSpPr>
          <p:cNvPr id="3" name="Shape 1"/>
          <p:cNvSpPr/>
          <p:nvPr/>
        </p:nvSpPr>
        <p:spPr>
          <a:xfrm>
            <a:off x="0" y="6537960"/>
            <a:ext cx="12188952" cy="0"/>
          </a:xfrm>
          <a:prstGeom prst="line">
            <a:avLst/>
          </a:prstGeom>
          <a:noFill/>
          <a:ln w="12700">
            <a:solidFill>
              <a:srgbClr val="D9D9D9"/>
            </a:solidFill>
            <a:prstDash val="solid"/>
          </a:ln>
        </p:spPr>
      </p:sp>
      <p:sp>
        <p:nvSpPr>
          <p:cNvPr id="4" name="Text 2"/>
          <p:cNvSpPr/>
          <p:nvPr/>
        </p:nvSpPr>
        <p:spPr>
          <a:xfrm>
            <a:off x="411480" y="6565392"/>
            <a:ext cx="4572000" cy="182880"/>
          </a:xfrm>
          <a:prstGeom prst="rect">
            <a:avLst/>
          </a:prstGeom>
          <a:noFill/>
          <a:ln/>
        </p:spPr>
        <p:txBody>
          <a:bodyPr wrap="square" rtlCol="0" anchor="ctr"/>
          <a:lstStyle/>
          <a:p>
            <a:pPr indent="0" marL="0">
              <a:buNone/>
            </a:pPr>
            <a:r>
              <a:rPr lang="en-US" sz="900" i="1" dirty="0">
                <a:solidFill>
                  <a:srgbClr val="808080"/>
                </a:solidFill>
                <a:latin typeface="Aptos" pitchFamily="34" charset="0"/>
                <a:ea typeface="Aptos" pitchFamily="34" charset="-122"/>
                <a:cs typeface="Aptos" pitchFamily="34" charset="-120"/>
              </a:rPr>
              <a:t>Generated by Truvora Global AI</a:t>
            </a:r>
            <a:endParaRPr lang="en-US" sz="900" dirty="0"/>
          </a:p>
        </p:txBody>
      </p:sp>
      <p:sp>
        <p:nvSpPr>
          <p:cNvPr id="5" name="Text 3"/>
          <p:cNvSpPr/>
          <p:nvPr/>
        </p:nvSpPr>
        <p:spPr>
          <a:xfrm>
            <a:off x="11064240" y="6565392"/>
            <a:ext cx="640080" cy="182880"/>
          </a:xfrm>
          <a:prstGeom prst="rect">
            <a:avLst/>
          </a:prstGeom>
          <a:noFill/>
          <a:ln/>
        </p:spPr>
        <p:txBody>
          <a:bodyPr wrap="square" rtlCol="0" anchor="ctr"/>
          <a:lstStyle/>
          <a:p>
            <a:pPr algn="r" indent="0" marL="0">
              <a:buNone/>
            </a:pPr>
            <a:r>
              <a:rPr lang="en-US" sz="900" dirty="0">
                <a:solidFill>
                  <a:srgbClr val="808080"/>
                </a:solidFill>
                <a:latin typeface="Aptos" pitchFamily="34" charset="0"/>
                <a:ea typeface="Aptos" pitchFamily="34" charset="-122"/>
                <a:cs typeface="Aptos" pitchFamily="34" charset="-120"/>
              </a:rPr>
              <a:t>4 / 5</a:t>
            </a:r>
            <a:endParaRPr lang="en-US" sz="900" dirty="0"/>
          </a:p>
        </p:txBody>
      </p:sp>
      <p:sp>
        <p:nvSpPr>
          <p:cNvPr id="6" name="Text 4"/>
          <p:cNvSpPr/>
          <p:nvPr/>
        </p:nvSpPr>
        <p:spPr>
          <a:xfrm>
            <a:off x="502920" y="411480"/>
            <a:ext cx="9144000" cy="365760"/>
          </a:xfrm>
          <a:prstGeom prst="rect">
            <a:avLst/>
          </a:prstGeom>
          <a:noFill/>
          <a:ln/>
        </p:spPr>
        <p:txBody>
          <a:bodyPr wrap="square" rtlCol="0" anchor="ctr"/>
          <a:lstStyle/>
          <a:p>
            <a:pPr indent="0" marL="0">
              <a:buNone/>
            </a:pPr>
            <a:r>
              <a:rPr lang="en-US" sz="2000" b="1" dirty="0">
                <a:solidFill>
                  <a:srgbClr val="1565C0"/>
                </a:solidFill>
                <a:latin typeface="Aptos" pitchFamily="34" charset="0"/>
                <a:ea typeface="Aptos" pitchFamily="34" charset="-122"/>
                <a:cs typeface="Aptos" pitchFamily="34" charset="-120"/>
              </a:rPr>
              <a:t>Recommendations</a:t>
            </a:r>
            <a:endParaRPr lang="en-US" sz="2000" dirty="0"/>
          </a:p>
        </p:txBody>
      </p:sp>
      <p:sp>
        <p:nvSpPr>
          <p:cNvPr id="7" name="Text 5"/>
          <p:cNvSpPr/>
          <p:nvPr/>
        </p:nvSpPr>
        <p:spPr>
          <a:xfrm>
            <a:off x="502920" y="914400"/>
            <a:ext cx="10972800" cy="5212080"/>
          </a:xfrm>
          <a:prstGeom prst="rect">
            <a:avLst/>
          </a:prstGeom>
          <a:noFill/>
          <a:ln/>
        </p:spPr>
        <p:txBody>
          <a:bodyPr wrap="square" lIns="1016" tIns="1016" rIns="1016" bIns="1016" rtlCol="0" anchor="t"/>
          <a:lstStyle/>
          <a:p>
            <a:pPr indent="0" marL="0">
              <a:buNone/>
            </a:pPr>
            <a:r>
              <a:rPr lang="en-US" sz="1400" dirty="0">
                <a:solidFill>
                  <a:srgbClr val="222222"/>
                </a:solidFill>
                <a:latin typeface="Aptos" pitchFamily="34" charset="0"/>
                <a:ea typeface="Aptos" pitchFamily="34" charset="-122"/>
                <a:cs typeface="Aptos" pitchFamily="34" charset="-120"/>
              </a:rPr>
              <a:t>
• Verify important information using official sources.
• Review AI-generated content before making important decisions.
• Cross-check facts from multiple trusted sources.
• Continue monitoring this topic because information may change.
</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0"/>
          </a:xfrm>
          <a:prstGeom prst="line">
            <a:avLst/>
          </a:prstGeom>
          <a:noFill/>
          <a:ln w="25400">
            <a:solidFill>
              <a:srgbClr val="1565C0"/>
            </a:solidFill>
            <a:prstDash val="solid"/>
          </a:ln>
        </p:spPr>
      </p:sp>
      <p:sp>
        <p:nvSpPr>
          <p:cNvPr id="3" name="Shape 1"/>
          <p:cNvSpPr/>
          <p:nvPr/>
        </p:nvSpPr>
        <p:spPr>
          <a:xfrm>
            <a:off x="0" y="6537960"/>
            <a:ext cx="12188952" cy="0"/>
          </a:xfrm>
          <a:prstGeom prst="line">
            <a:avLst/>
          </a:prstGeom>
          <a:noFill/>
          <a:ln w="12700">
            <a:solidFill>
              <a:srgbClr val="D9D9D9"/>
            </a:solidFill>
            <a:prstDash val="solid"/>
          </a:ln>
        </p:spPr>
      </p:sp>
      <p:sp>
        <p:nvSpPr>
          <p:cNvPr id="4" name="Text 2"/>
          <p:cNvSpPr/>
          <p:nvPr/>
        </p:nvSpPr>
        <p:spPr>
          <a:xfrm>
            <a:off x="411480" y="6565392"/>
            <a:ext cx="4572000" cy="182880"/>
          </a:xfrm>
          <a:prstGeom prst="rect">
            <a:avLst/>
          </a:prstGeom>
          <a:noFill/>
          <a:ln/>
        </p:spPr>
        <p:txBody>
          <a:bodyPr wrap="square" rtlCol="0" anchor="ctr"/>
          <a:lstStyle/>
          <a:p>
            <a:pPr indent="0" marL="0">
              <a:buNone/>
            </a:pPr>
            <a:r>
              <a:rPr lang="en-US" sz="900" i="1" dirty="0">
                <a:solidFill>
                  <a:srgbClr val="808080"/>
                </a:solidFill>
                <a:latin typeface="Aptos" pitchFamily="34" charset="0"/>
                <a:ea typeface="Aptos" pitchFamily="34" charset="-122"/>
                <a:cs typeface="Aptos" pitchFamily="34" charset="-120"/>
              </a:rPr>
              <a:t>Generated by Truvora Global AI</a:t>
            </a:r>
            <a:endParaRPr lang="en-US" sz="900" dirty="0"/>
          </a:p>
        </p:txBody>
      </p:sp>
      <p:sp>
        <p:nvSpPr>
          <p:cNvPr id="5" name="Text 3"/>
          <p:cNvSpPr/>
          <p:nvPr/>
        </p:nvSpPr>
        <p:spPr>
          <a:xfrm>
            <a:off x="11064240" y="6565392"/>
            <a:ext cx="640080" cy="182880"/>
          </a:xfrm>
          <a:prstGeom prst="rect">
            <a:avLst/>
          </a:prstGeom>
          <a:noFill/>
          <a:ln/>
        </p:spPr>
        <p:txBody>
          <a:bodyPr wrap="square" rtlCol="0" anchor="ctr"/>
          <a:lstStyle/>
          <a:p>
            <a:pPr algn="r" indent="0" marL="0">
              <a:buNone/>
            </a:pPr>
            <a:r>
              <a:rPr lang="en-US" sz="900" dirty="0">
                <a:solidFill>
                  <a:srgbClr val="808080"/>
                </a:solidFill>
                <a:latin typeface="Aptos" pitchFamily="34" charset="0"/>
                <a:ea typeface="Aptos" pitchFamily="34" charset="-122"/>
                <a:cs typeface="Aptos" pitchFamily="34" charset="-120"/>
              </a:rPr>
              <a:t>5 / 5</a:t>
            </a:r>
            <a:endParaRPr lang="en-US" sz="900" dirty="0"/>
          </a:p>
        </p:txBody>
      </p:sp>
      <p:sp>
        <p:nvSpPr>
          <p:cNvPr id="6" name="Text 4"/>
          <p:cNvSpPr/>
          <p:nvPr/>
        </p:nvSpPr>
        <p:spPr>
          <a:xfrm>
            <a:off x="502920" y="411480"/>
            <a:ext cx="9144000" cy="365760"/>
          </a:xfrm>
          <a:prstGeom prst="rect">
            <a:avLst/>
          </a:prstGeom>
          <a:noFill/>
          <a:ln/>
        </p:spPr>
        <p:txBody>
          <a:bodyPr wrap="square" rtlCol="0" anchor="ctr"/>
          <a:lstStyle/>
          <a:p>
            <a:pPr indent="0" marL="0">
              <a:buNone/>
            </a:pPr>
            <a:r>
              <a:rPr lang="en-US" sz="2000" b="1" dirty="0">
                <a:solidFill>
                  <a:srgbClr val="1565C0"/>
                </a:solidFill>
                <a:latin typeface="Aptos" pitchFamily="34" charset="0"/>
                <a:ea typeface="Aptos" pitchFamily="34" charset="-122"/>
                <a:cs typeface="Aptos" pitchFamily="34" charset="-120"/>
              </a:rPr>
              <a:t>Sources</a:t>
            </a:r>
            <a:endParaRPr lang="en-US" sz="2000" dirty="0"/>
          </a:p>
        </p:txBody>
      </p:sp>
      <p:sp>
        <p:nvSpPr>
          <p:cNvPr id="7" name="Text 5"/>
          <p:cNvSpPr/>
          <p:nvPr/>
        </p:nvSpPr>
        <p:spPr>
          <a:xfrm>
            <a:off x="502920" y="914400"/>
            <a:ext cx="10515600" cy="274320"/>
          </a:xfrm>
          <a:prstGeom prst="rect">
            <a:avLst/>
          </a:prstGeom>
          <a:noFill/>
          <a:ln/>
        </p:spPr>
        <p:txBody>
          <a:bodyPr wrap="square" rtlCol="0" anchor="ctr"/>
          <a:lstStyle/>
          <a:p>
            <a:pPr indent="0" marL="0">
              <a:buNone/>
            </a:pPr>
            <a:r>
              <a:rPr lang="en-US" sz="1400" u="sng" dirty="0">
                <a:solidFill>
                  <a:srgbClr val="0563C1"/>
                </a:solidFill>
                <a:latin typeface="Aptos" pitchFamily="34" charset="0"/>
                <a:ea typeface="Aptos" pitchFamily="34" charset="-122"/>
                <a:cs typeface="Aptos" pitchFamily="34" charset="-120"/>
              </a:rPr>
              <a:t>https://news.google.com</a:t>
            </a:r>
            <a:endParaRPr lang="en-US" sz="1400" dirty="0"/>
          </a:p>
        </p:txBody>
      </p:sp>
      <p:sp>
        <p:nvSpPr>
          <p:cNvPr id="8" name="Text 6"/>
          <p:cNvSpPr/>
          <p:nvPr/>
        </p:nvSpPr>
        <p:spPr>
          <a:xfrm>
            <a:off x="502920" y="1261872"/>
            <a:ext cx="10515600" cy="274320"/>
          </a:xfrm>
          <a:prstGeom prst="rect">
            <a:avLst/>
          </a:prstGeom>
          <a:noFill/>
          <a:ln/>
        </p:spPr>
        <p:txBody>
          <a:bodyPr wrap="square" rtlCol="0" anchor="ctr"/>
          <a:lstStyle/>
          <a:p>
            <a:pPr indent="0" marL="0">
              <a:buNone/>
            </a:pPr>
            <a:r>
              <a:rPr lang="en-US" sz="1400" u="sng" dirty="0">
                <a:solidFill>
                  <a:srgbClr val="0563C1"/>
                </a:solidFill>
                <a:latin typeface="Aptos" pitchFamily="34" charset="0"/>
                <a:ea typeface="Aptos" pitchFamily="34" charset="-122"/>
                <a:cs typeface="Aptos" pitchFamily="34" charset="-120"/>
              </a:rPr>
              <a:t>https://www.reuters.com</a:t>
            </a:r>
            <a:endParaRPr lang="en-US" sz="1400" dirty="0"/>
          </a:p>
        </p:txBody>
      </p:sp>
      <p:sp>
        <p:nvSpPr>
          <p:cNvPr id="9" name="Text 7"/>
          <p:cNvSpPr/>
          <p:nvPr/>
        </p:nvSpPr>
        <p:spPr>
          <a:xfrm>
            <a:off x="502920" y="1609344"/>
            <a:ext cx="10515600" cy="274320"/>
          </a:xfrm>
          <a:prstGeom prst="rect">
            <a:avLst/>
          </a:prstGeom>
          <a:noFill/>
          <a:ln/>
        </p:spPr>
        <p:txBody>
          <a:bodyPr wrap="square" rtlCol="0" anchor="ctr"/>
          <a:lstStyle/>
          <a:p>
            <a:pPr indent="0" marL="0">
              <a:buNone/>
            </a:pPr>
            <a:r>
              <a:rPr lang="en-US" sz="1400" u="sng" dirty="0">
                <a:solidFill>
                  <a:srgbClr val="0563C1"/>
                </a:solidFill>
                <a:latin typeface="Aptos" pitchFamily="34" charset="0"/>
                <a:ea typeface="Aptos" pitchFamily="34" charset="-122"/>
                <a:cs typeface="Aptos" pitchFamily="34" charset="-120"/>
              </a:rPr>
              <a:t>https://apnews.com</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Truvora Global AI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Analysis Report</dc:title>
  <dc:subject>AI Analysis Report</dc:subject>
  <dc:creator>Truvora Global AI</dc:creator>
  <cp:lastModifiedBy>Truvora Global AI</cp:lastModifiedBy>
  <cp:revision>1</cp:revision>
  <dcterms:created xsi:type="dcterms:W3CDTF">2026-07-24T01:46:49Z</dcterms:created>
  <dcterms:modified xsi:type="dcterms:W3CDTF">2026-07-24T01:46:49Z</dcterms:modified>
</cp:coreProperties>
</file>